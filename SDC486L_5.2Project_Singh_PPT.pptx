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2"/>
  </p:notesMasterIdLst>
  <p:sldIdLst>
    <p:sldId id="256" r:id="rId2"/>
    <p:sldId id="270" r:id="rId3"/>
    <p:sldId id="260" r:id="rId4"/>
    <p:sldId id="271" r:id="rId5"/>
    <p:sldId id="272" r:id="rId6"/>
    <p:sldId id="273" r:id="rId7"/>
    <p:sldId id="274" r:id="rId8"/>
    <p:sldId id="275" r:id="rId9"/>
    <p:sldId id="278" r:id="rId10"/>
    <p:sldId id="277" r:id="rId11"/>
  </p:sldIdLst>
  <p:sldSz cx="18288000" cy="10287000"/>
  <p:notesSz cx="6858000" cy="9144000"/>
  <p:embeddedFontLst>
    <p:embeddedFont>
      <p:font typeface="Merriweather Sans Light" pitchFamily="2"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9CBFAF-5B0C-A1AA-1F89-6E80D5BAD6DF}" v="9" dt="2026-06-13T23:41:15.122"/>
    <p1510:client id="{F2F9832A-7E09-4E95-A700-4E3B6B128A84}" v="46" dt="2026-06-14T00:16:02.388"/>
  </p1510:revLst>
</p1510:revInfo>
</file>

<file path=ppt/tableStyles.xml><?xml version="1.0" encoding="utf-8"?>
<a:tblStyleLst xmlns:a="http://schemas.openxmlformats.org/drawingml/2006/main" def="{1CF2951D-F056-4EE1-9A8E-40653F2748D4}">
  <a:tblStyle styleId="{1CF2951D-F056-4EE1-9A8E-40653F2748D4}"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Good morning everyone. This project focuses on predicting residential property values using machine learning and neural networks. Housing prices are influenced by many different factors, making accurate valuation difficult through traditional methods alone. Using the Ames Housing Dataset, I developed a predictive framework that combines data preprocessing, statistical modeling, and neural networks to better understand housing values. The project compares a traditional Linear Regression model against a Neural Network and then uses those results to generate practical recommendations for buyers, sellers, and financial institutions.</a:t>
            </a:r>
          </a:p>
        </p:txBody>
      </p:sp>
      <p:sp>
        <p:nvSpPr>
          <p:cNvPr id="76" name="Google Shape;7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E87858D6-7C87-8E40-D68E-9FC5C96CD2CF}"/>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640B2CEE-6F20-264B-84AD-981ED7D9104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foundation of this project is the Ames Housing Dataset, which contains detailed records for nearly 3,000 residential properties in Ames, Iowa. Each property includes 79 different characteristics that describe the home. These features include numerical measurements like living area and basement size, location information such as neighborhood, and quality ratings that assess the overall condition of the property. Because the dataset contains both the features and the final sale price, it provides an excellent environment for testing predictive models and identifying what factors most strongly influence housing values.</a:t>
            </a:r>
          </a:p>
        </p:txBody>
      </p:sp>
      <p:sp>
        <p:nvSpPr>
          <p:cNvPr id="142" name="Google Shape;142;p5:notes">
            <a:extLst>
              <a:ext uri="{FF2B5EF4-FFF2-40B4-BE49-F238E27FC236}">
                <a16:creationId xmlns:a16="http://schemas.microsoft.com/office/drawing/2014/main" id="{E0C58C1C-4094-8746-83AB-1D90640402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8527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Accurately pricing a home is a challenging task. Traditional approaches often depend on human judgment and comparisons to a limited number of recently sold homes. However, housing markets contain many interacting variables that can influence value at the same time. When homes are incorrectly priced, sellers may lose money, buyers may overpay, and lenders may face increased financial risk. The goal of this project was to build a data-driven solution that improves valuation accuracy while identifying which property characteristics have the greatest impact on housing prices.</a:t>
            </a:r>
          </a:p>
        </p:txBody>
      </p:sp>
      <p:sp>
        <p:nvSpPr>
          <p:cNvPr id="142" name="Google Shape;14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5CA31D8-E24F-4FA7-F95B-1CC3FE39420E}"/>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4C090924-9352-B2C2-5A6E-B8C9237C65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first step was exploratory data analysis, or EDA, which is the process of understanding patterns within the data before building models. One important finding was that sale prices were heavily right-skewed, meaning a small number of expensive homes pulled the average upward. Correlation analysis showed that living area and overall quality were among the strongest predictors of value. To prepare the data for machine learning, missing numerical values were filled using median values, categorical variables were encoded into numbers, new features such as Total Square Footage were created, and all numerical variables were standardized so models could evaluate them fairly.</a:t>
            </a:r>
          </a:p>
        </p:txBody>
      </p:sp>
      <p:sp>
        <p:nvSpPr>
          <p:cNvPr id="142" name="Google Shape;142;p5:notes">
            <a:extLst>
              <a:ext uri="{FF2B5EF4-FFF2-40B4-BE49-F238E27FC236}">
                <a16:creationId xmlns:a16="http://schemas.microsoft.com/office/drawing/2014/main" id="{F69AD4FF-FEC0-AB21-7AC9-BDF44C9A34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7801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6F740457-7130-4B24-DE22-624BD9B25185}"/>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9CA5BDB6-E08B-FA8C-019D-3E16ED0B71A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To establish a baseline, I first implemented a Multiple Linear Regression model. This model achieved a Mean Absolute Error, or MAE, of approximately $23,929. MAE measures the average prediction error in dollars, making it easy to understand. The Mean Squared Error, or MSE, was about 6.9 billion. MSE places extra emphasis on large prediction mistakes, so lower values are better. The R-squared score was only 0.10, meaning the model explained about 10 percent of the variation in housing prices. While Linear Regression is simple and interpretable, it struggled to capture the complex relationships present in the housing market.</a:t>
            </a:r>
          </a:p>
        </p:txBody>
      </p:sp>
      <p:sp>
        <p:nvSpPr>
          <p:cNvPr id="142" name="Google Shape;142;p5:notes">
            <a:extLst>
              <a:ext uri="{FF2B5EF4-FFF2-40B4-BE49-F238E27FC236}">
                <a16:creationId xmlns:a16="http://schemas.microsoft.com/office/drawing/2014/main" id="{1E001858-9051-84B6-D6AD-7F4E9CE027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33845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04D74665-30BD-7A1A-BCB9-424872D00C5C}"/>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20F88CD1-0B0B-6502-FD2B-7FAA64466B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To better capture complex patterns, I implemented a Feed-Forward Neural Network. Neural networks are machine learning models inspired by the way the human brain processes information. The architecture used two hidden layers containing 64 and 32 neurons with Rectified Linear Unit activation functions. This model significantly reduced the Mean Squared Error from 6.9 billion to 4.3 billion and improved the R-squared score from 0.10 to 0.44. This means the neural network explained a much larger portion of housing price variation and was better at recognizing non-linear relationships that Linear Regression could not identify.</a:t>
            </a:r>
          </a:p>
        </p:txBody>
      </p:sp>
      <p:sp>
        <p:nvSpPr>
          <p:cNvPr id="142" name="Google Shape;142;p5:notes">
            <a:extLst>
              <a:ext uri="{FF2B5EF4-FFF2-40B4-BE49-F238E27FC236}">
                <a16:creationId xmlns:a16="http://schemas.microsoft.com/office/drawing/2014/main" id="{E853143E-5D45-D7D2-2C89-1A2DE4ABA77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97517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5AEFE911-488C-B030-07D3-051185A049DD}"/>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EDDAE43B-8EBD-FA5A-8F60-F669B7889A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After training the neural network, I conducted scenario analysis to test how market changes could affect predicted home values. This process can be thought of as stress testing the model. Increasing home size while reducing quality produced only a small increase in value. Conversely, reducing quality caused prices to decline noticeably. One of the most interesting findings was that smaller homes with improved quality ratings still increased in value. These results strongly support the conclusion that quality is a more powerful driver of home value than square footage alone.</a:t>
            </a:r>
          </a:p>
        </p:txBody>
      </p:sp>
      <p:sp>
        <p:nvSpPr>
          <p:cNvPr id="142" name="Google Shape;142;p5:notes">
            <a:extLst>
              <a:ext uri="{FF2B5EF4-FFF2-40B4-BE49-F238E27FC236}">
                <a16:creationId xmlns:a16="http://schemas.microsoft.com/office/drawing/2014/main" id="{2B26FB8E-24D8-1E9A-2314-1D8BF67D21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1075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80A547E8-105A-9F43-615B-982079235502}"/>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88130B35-D259-BE46-A46B-65F7B943D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Based on the model results, I strongly believe that stakeholders should focus on improving property quality rather than simply increasing square footage. Investments in repairs, renovations, and high-quality finishes are likely to generate stronger returns than expensive structural additions. Buyers, sellers, and investors can also benefit from predictive analytics by using data-driven insights to support pricing decisions. Scenario analysis provides an additional tool for evaluating investment strategies before significant resources are committed.</a:t>
            </a:r>
          </a:p>
        </p:txBody>
      </p:sp>
      <p:sp>
        <p:nvSpPr>
          <p:cNvPr id="142" name="Google Shape;142;p5:notes">
            <a:extLst>
              <a:ext uri="{FF2B5EF4-FFF2-40B4-BE49-F238E27FC236}">
                <a16:creationId xmlns:a16="http://schemas.microsoft.com/office/drawing/2014/main" id="{CC618513-2581-8ADA-EC36-E194134766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38200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9C222025-32C8-46FA-DF26-1B3F45CEDF94}"/>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A20FA69D-CF69-938A-AAEE-5721ADA67B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This dashboard summarizes the most important findings from the project. The model comparison charts demonstrate the Neural Network's superior performance, particularly in Mean Squared Error and R-squared. The scenario analysis chart visually confirms that quality has a greater impact on value than square footage alone. The scatter plot shows how higher quality homes achieve substantially higher sale prices even when homes have similar living areas. Finally, the histogram confirms the right-skewed distribution observed during exploratory analysis, where most homes fall within a moderate price range while a small number of luxury properties form a long upper tail. Together, these visualizations provide both predictive and explanatory insights into the housing market.</a:t>
            </a:r>
          </a:p>
        </p:txBody>
      </p:sp>
      <p:sp>
        <p:nvSpPr>
          <p:cNvPr id="142" name="Google Shape;142;p5:notes">
            <a:extLst>
              <a:ext uri="{FF2B5EF4-FFF2-40B4-BE49-F238E27FC236}">
                <a16:creationId xmlns:a16="http://schemas.microsoft.com/office/drawing/2014/main" id="{A76B63EF-0018-8BF3-0C9A-AB15215092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6060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a:extLst>
            <a:ext uri="{FF2B5EF4-FFF2-40B4-BE49-F238E27FC236}">
              <a16:creationId xmlns:a16="http://schemas.microsoft.com/office/drawing/2014/main" id="{D3A22BD3-8A82-F166-4845-D25C3B736AF2}"/>
            </a:ext>
          </a:extLst>
        </p:cNvPr>
        <p:cNvGrpSpPr/>
        <p:nvPr/>
      </p:nvGrpSpPr>
      <p:grpSpPr>
        <a:xfrm>
          <a:off x="0" y="0"/>
          <a:ext cx="0" cy="0"/>
          <a:chOff x="0" y="0"/>
          <a:chExt cx="0" cy="0"/>
        </a:xfrm>
      </p:grpSpPr>
      <p:sp>
        <p:nvSpPr>
          <p:cNvPr id="141" name="Google Shape;141;p5:notes">
            <a:extLst>
              <a:ext uri="{FF2B5EF4-FFF2-40B4-BE49-F238E27FC236}">
                <a16:creationId xmlns:a16="http://schemas.microsoft.com/office/drawing/2014/main" id="{E455F848-DB21-D7CD-02DE-BD75274B50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5:notes">
            <a:extLst>
              <a:ext uri="{FF2B5EF4-FFF2-40B4-BE49-F238E27FC236}">
                <a16:creationId xmlns:a16="http://schemas.microsoft.com/office/drawing/2014/main" id="{78A5D80E-38E1-947D-BBA8-DFFD86383F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272434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rgbClr val="1B0D39"/>
        </a:solidFill>
        <a:effectLst/>
      </p:bgPr>
    </p:bg>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l="7201"/>
          <a:stretch/>
        </p:blipFill>
        <p:spPr>
          <a:xfrm>
            <a:off x="1" y="0"/>
            <a:ext cx="7980601" cy="10287000"/>
          </a:xfrm>
          <a:prstGeom prst="rect">
            <a:avLst/>
          </a:prstGeom>
          <a:noFill/>
          <a:ln>
            <a:noFill/>
          </a:ln>
        </p:spPr>
      </p:pic>
      <p:sp>
        <p:nvSpPr>
          <p:cNvPr id="17" name="Google Shape;17;p3"/>
          <p:cNvSpPr txBox="1">
            <a:spLocks noGrp="1"/>
          </p:cNvSpPr>
          <p:nvPr>
            <p:ph type="title"/>
          </p:nvPr>
        </p:nvSpPr>
        <p:spPr>
          <a:xfrm>
            <a:off x="9042750" y="1408986"/>
            <a:ext cx="8229600" cy="4549500"/>
          </a:xfrm>
          <a:prstGeom prst="rect">
            <a:avLst/>
          </a:prstGeom>
          <a:noFill/>
          <a:ln>
            <a:noFill/>
          </a:ln>
        </p:spPr>
        <p:txBody>
          <a:bodyPr spcFirstLastPara="1" wrap="square" lIns="91425" tIns="45700" rIns="91425" bIns="45700" anchor="t" anchorCtr="0">
            <a:normAutofit/>
          </a:bodyPr>
          <a:lstStyle>
            <a:lvl1pPr marR="0" lvl="0">
              <a:spcBef>
                <a:spcPts val="0"/>
              </a:spcBef>
              <a:spcAft>
                <a:spcPts val="0"/>
              </a:spcAft>
              <a:buClr>
                <a:srgbClr val="F9F6FF"/>
              </a:buClr>
              <a:buSzPts val="10000"/>
              <a:buFont typeface="Merriweather Sans"/>
              <a:buNone/>
              <a:defRPr sz="10000" i="0" u="none" strike="noStrike" cap="none">
                <a:solidFill>
                  <a:srgbClr val="F9F6FF"/>
                </a:solidFill>
                <a:latin typeface="Merriweather Sans"/>
                <a:ea typeface="Merriweather Sans"/>
                <a:cs typeface="Merriweather Sans"/>
                <a:sym typeface="Merriweather Sans"/>
              </a:defRPr>
            </a:lvl1pPr>
            <a:lvl2pPr lvl="1">
              <a:spcBef>
                <a:spcPts val="0"/>
              </a:spcBef>
              <a:spcAft>
                <a:spcPts val="0"/>
              </a:spcAft>
              <a:buClr>
                <a:srgbClr val="F9F6FF"/>
              </a:buClr>
              <a:buSzPts val="1400"/>
              <a:buNone/>
              <a:defRPr sz="1800">
                <a:solidFill>
                  <a:srgbClr val="F9F6FF"/>
                </a:solidFill>
              </a:defRPr>
            </a:lvl2pPr>
            <a:lvl3pPr lvl="2">
              <a:spcBef>
                <a:spcPts val="0"/>
              </a:spcBef>
              <a:spcAft>
                <a:spcPts val="0"/>
              </a:spcAft>
              <a:buClr>
                <a:srgbClr val="F9F6FF"/>
              </a:buClr>
              <a:buSzPts val="1400"/>
              <a:buNone/>
              <a:defRPr sz="1800">
                <a:solidFill>
                  <a:srgbClr val="F9F6FF"/>
                </a:solidFill>
              </a:defRPr>
            </a:lvl3pPr>
            <a:lvl4pPr lvl="3">
              <a:spcBef>
                <a:spcPts val="0"/>
              </a:spcBef>
              <a:spcAft>
                <a:spcPts val="0"/>
              </a:spcAft>
              <a:buClr>
                <a:srgbClr val="F9F6FF"/>
              </a:buClr>
              <a:buSzPts val="1400"/>
              <a:buNone/>
              <a:defRPr sz="1800">
                <a:solidFill>
                  <a:srgbClr val="F9F6FF"/>
                </a:solidFill>
              </a:defRPr>
            </a:lvl4pPr>
            <a:lvl5pPr lvl="4">
              <a:spcBef>
                <a:spcPts val="0"/>
              </a:spcBef>
              <a:spcAft>
                <a:spcPts val="0"/>
              </a:spcAft>
              <a:buClr>
                <a:srgbClr val="F9F6FF"/>
              </a:buClr>
              <a:buSzPts val="1400"/>
              <a:buNone/>
              <a:defRPr sz="1800">
                <a:solidFill>
                  <a:srgbClr val="F9F6FF"/>
                </a:solidFill>
              </a:defRPr>
            </a:lvl5pPr>
            <a:lvl6pPr lvl="5">
              <a:spcBef>
                <a:spcPts val="0"/>
              </a:spcBef>
              <a:spcAft>
                <a:spcPts val="0"/>
              </a:spcAft>
              <a:buClr>
                <a:srgbClr val="F9F6FF"/>
              </a:buClr>
              <a:buSzPts val="1400"/>
              <a:buNone/>
              <a:defRPr sz="1800">
                <a:solidFill>
                  <a:srgbClr val="F9F6FF"/>
                </a:solidFill>
              </a:defRPr>
            </a:lvl6pPr>
            <a:lvl7pPr lvl="6">
              <a:spcBef>
                <a:spcPts val="0"/>
              </a:spcBef>
              <a:spcAft>
                <a:spcPts val="0"/>
              </a:spcAft>
              <a:buClr>
                <a:srgbClr val="F9F6FF"/>
              </a:buClr>
              <a:buSzPts val="1400"/>
              <a:buNone/>
              <a:defRPr sz="1800">
                <a:solidFill>
                  <a:srgbClr val="F9F6FF"/>
                </a:solidFill>
              </a:defRPr>
            </a:lvl7pPr>
            <a:lvl8pPr lvl="7">
              <a:spcBef>
                <a:spcPts val="0"/>
              </a:spcBef>
              <a:spcAft>
                <a:spcPts val="0"/>
              </a:spcAft>
              <a:buClr>
                <a:srgbClr val="F9F6FF"/>
              </a:buClr>
              <a:buSzPts val="1400"/>
              <a:buNone/>
              <a:defRPr sz="1800">
                <a:solidFill>
                  <a:srgbClr val="F9F6FF"/>
                </a:solidFill>
              </a:defRPr>
            </a:lvl8pPr>
            <a:lvl9pPr lvl="8">
              <a:spcBef>
                <a:spcPts val="0"/>
              </a:spcBef>
              <a:spcAft>
                <a:spcPts val="0"/>
              </a:spcAft>
              <a:buClr>
                <a:srgbClr val="F9F6FF"/>
              </a:buClr>
              <a:buSzPts val="1400"/>
              <a:buNone/>
              <a:defRPr sz="1800">
                <a:solidFill>
                  <a:srgbClr val="F9F6FF"/>
                </a:solidFill>
              </a:defRPr>
            </a:lvl9pPr>
          </a:lstStyle>
          <a:p>
            <a:endParaRPr/>
          </a:p>
        </p:txBody>
      </p:sp>
      <p:sp>
        <p:nvSpPr>
          <p:cNvPr id="18" name="Google Shape;18;p3"/>
          <p:cNvSpPr txBox="1">
            <a:spLocks noGrp="1"/>
          </p:cNvSpPr>
          <p:nvPr>
            <p:ph type="body" idx="1"/>
          </p:nvPr>
        </p:nvSpPr>
        <p:spPr>
          <a:xfrm>
            <a:off x="9042750" y="6730900"/>
            <a:ext cx="8229600" cy="1809000"/>
          </a:xfrm>
          <a:prstGeom prst="rect">
            <a:avLst/>
          </a:prstGeom>
          <a:noFill/>
          <a:ln>
            <a:noFill/>
          </a:ln>
        </p:spPr>
        <p:txBody>
          <a:bodyPr spcFirstLastPara="1" wrap="square" lIns="91425" tIns="45700" rIns="91425" bIns="45700" anchor="t" anchorCtr="0">
            <a:normAutofit/>
          </a:bodyPr>
          <a:lstStyle>
            <a:lvl1pPr marL="457200" marR="0" lvl="0" indent="-342900" algn="l">
              <a:spcBef>
                <a:spcPts val="64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1pPr>
            <a:lvl2pPr marL="914400" marR="0" lvl="1" indent="-342900" algn="l">
              <a:spcBef>
                <a:spcPts val="56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2pPr>
            <a:lvl3pPr marL="1371600" marR="0" lvl="2" indent="-342900" algn="l">
              <a:spcBef>
                <a:spcPts val="48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3pPr>
            <a:lvl4pPr marL="1828800" marR="0" lvl="3"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4pPr>
            <a:lvl5pPr marL="2286000" marR="0" lvl="4"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5pPr>
            <a:lvl6pPr marL="2743200" marR="0" lvl="5"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6pPr>
            <a:lvl7pPr marL="3200400" marR="0" lvl="6"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7pPr>
            <a:lvl8pPr marL="3657600" marR="0" lvl="7"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8pPr>
            <a:lvl9pPr marL="4114800" marR="0" lvl="8"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pic>
        <p:nvPicPr>
          <p:cNvPr id="20" name="Google Shape;20;p4"/>
          <p:cNvPicPr preferRelativeResize="0"/>
          <p:nvPr/>
        </p:nvPicPr>
        <p:blipFill>
          <a:blip r:embed="rId2">
            <a:alphaModFix/>
          </a:blip>
          <a:stretch>
            <a:fillRect/>
          </a:stretch>
        </p:blipFill>
        <p:spPr>
          <a:xfrm>
            <a:off x="-27075" y="-26750"/>
            <a:ext cx="18342149" cy="10331000"/>
          </a:xfrm>
          <a:prstGeom prst="rect">
            <a:avLst/>
          </a:prstGeom>
          <a:noFill/>
          <a:ln>
            <a:noFill/>
          </a:ln>
        </p:spPr>
      </p:pic>
      <p:sp>
        <p:nvSpPr>
          <p:cNvPr id="21" name="Google Shape;21;p4"/>
          <p:cNvSpPr txBox="1">
            <a:spLocks noGrp="1"/>
          </p:cNvSpPr>
          <p:nvPr>
            <p:ph type="title"/>
          </p:nvPr>
        </p:nvSpPr>
        <p:spPr>
          <a:xfrm>
            <a:off x="545200" y="2993078"/>
            <a:ext cx="8229600" cy="3438000"/>
          </a:xfrm>
          <a:prstGeom prst="rect">
            <a:avLst/>
          </a:prstGeom>
          <a:noFill/>
          <a:ln>
            <a:noFill/>
          </a:ln>
        </p:spPr>
        <p:txBody>
          <a:bodyPr spcFirstLastPara="1" wrap="square" lIns="91425" tIns="45700" rIns="91425" bIns="45700" anchor="t" anchorCtr="0">
            <a:normAutofit/>
          </a:bodyPr>
          <a:lstStyle>
            <a:lvl1pPr marR="0" lvl="0">
              <a:spcBef>
                <a:spcPts val="0"/>
              </a:spcBef>
              <a:spcAft>
                <a:spcPts val="0"/>
              </a:spcAft>
              <a:buSzPts val="10000"/>
              <a:buFont typeface="Merriweather Sans"/>
              <a:buNone/>
              <a:defRPr sz="10000" i="0" u="none" strike="noStrike" cap="none">
                <a:latin typeface="Merriweather Sans"/>
                <a:ea typeface="Merriweather Sans"/>
                <a:cs typeface="Merriweather Sans"/>
                <a:sym typeface="Merriweather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2" name="Google Shape;22;p4"/>
          <p:cNvSpPr txBox="1">
            <a:spLocks noGrp="1"/>
          </p:cNvSpPr>
          <p:nvPr>
            <p:ph type="body" idx="1"/>
          </p:nvPr>
        </p:nvSpPr>
        <p:spPr>
          <a:xfrm>
            <a:off x="10313075" y="1861175"/>
            <a:ext cx="6959400" cy="6678600"/>
          </a:xfrm>
          <a:prstGeom prst="rect">
            <a:avLst/>
          </a:prstGeom>
          <a:noFill/>
          <a:ln>
            <a:noFill/>
          </a:ln>
        </p:spPr>
        <p:txBody>
          <a:bodyPr spcFirstLastPara="1" wrap="square" lIns="91425" tIns="45700" rIns="91425" bIns="45700" anchor="t" anchorCtr="0">
            <a:normAutofit/>
          </a:bodyPr>
          <a:lstStyle>
            <a:lvl1pPr marL="457200" marR="0" lvl="0" indent="-342900" algn="l">
              <a:spcBef>
                <a:spcPts val="640"/>
              </a:spcBef>
              <a:spcAft>
                <a:spcPts val="0"/>
              </a:spcAft>
              <a:buSzPts val="1800"/>
              <a:buFont typeface="Inclusive Sans"/>
              <a:buChar char="•"/>
              <a:defRPr sz="1800" i="0" u="none" strike="noStrike" cap="none">
                <a:latin typeface="Inclusive Sans"/>
                <a:ea typeface="Inclusive Sans"/>
                <a:cs typeface="Inclusive Sans"/>
                <a:sym typeface="Inclusive Sans"/>
              </a:defRPr>
            </a:lvl1pPr>
            <a:lvl2pPr marL="914400" marR="0" lvl="1" indent="-342900" algn="l">
              <a:spcBef>
                <a:spcPts val="560"/>
              </a:spcBef>
              <a:spcAft>
                <a:spcPts val="0"/>
              </a:spcAft>
              <a:buSzPts val="1800"/>
              <a:buFont typeface="Inclusive Sans"/>
              <a:buChar char="–"/>
              <a:defRPr sz="1800" i="0" u="none" strike="noStrike" cap="none">
                <a:latin typeface="Inclusive Sans"/>
                <a:ea typeface="Inclusive Sans"/>
                <a:cs typeface="Inclusive Sans"/>
                <a:sym typeface="Inclusive Sans"/>
              </a:defRPr>
            </a:lvl2pPr>
            <a:lvl3pPr marL="1371600" marR="0" lvl="2" indent="-342900" algn="l">
              <a:spcBef>
                <a:spcPts val="480"/>
              </a:spcBef>
              <a:spcAft>
                <a:spcPts val="0"/>
              </a:spcAft>
              <a:buSzPts val="1800"/>
              <a:buFont typeface="Inclusive Sans"/>
              <a:buChar char="•"/>
              <a:defRPr sz="1800" i="0" u="none" strike="noStrike" cap="none">
                <a:latin typeface="Inclusive Sans"/>
                <a:ea typeface="Inclusive Sans"/>
                <a:cs typeface="Inclusive Sans"/>
                <a:sym typeface="Inclusive Sans"/>
              </a:defRPr>
            </a:lvl3pPr>
            <a:lvl4pPr marL="1828800" marR="0" lvl="3" indent="-342900" algn="l">
              <a:spcBef>
                <a:spcPts val="400"/>
              </a:spcBef>
              <a:spcAft>
                <a:spcPts val="0"/>
              </a:spcAft>
              <a:buSzPts val="1800"/>
              <a:buFont typeface="Inclusive Sans"/>
              <a:buChar char="–"/>
              <a:defRPr sz="1800" i="0" u="none" strike="noStrike" cap="none">
                <a:latin typeface="Inclusive Sans"/>
                <a:ea typeface="Inclusive Sans"/>
                <a:cs typeface="Inclusive Sans"/>
                <a:sym typeface="Inclusive Sans"/>
              </a:defRPr>
            </a:lvl4pPr>
            <a:lvl5pPr marL="2286000" marR="0" lvl="4" indent="-342900" algn="l">
              <a:spcBef>
                <a:spcPts val="400"/>
              </a:spcBef>
              <a:spcAft>
                <a:spcPts val="0"/>
              </a:spcAft>
              <a:buSzPts val="1800"/>
              <a:buFont typeface="Inclusive Sans"/>
              <a:buChar char="»"/>
              <a:defRPr sz="1800" i="0" u="none" strike="noStrike" cap="none">
                <a:latin typeface="Inclusive Sans"/>
                <a:ea typeface="Inclusive Sans"/>
                <a:cs typeface="Inclusive Sans"/>
                <a:sym typeface="Inclusive Sans"/>
              </a:defRPr>
            </a:lvl5pPr>
            <a:lvl6pPr marL="2743200" marR="0" lvl="5" indent="-342900" algn="l">
              <a:spcBef>
                <a:spcPts val="400"/>
              </a:spcBef>
              <a:spcAft>
                <a:spcPts val="0"/>
              </a:spcAft>
              <a:buSzPts val="1800"/>
              <a:buFont typeface="Inclusive Sans"/>
              <a:buChar char="•"/>
              <a:defRPr sz="1800" i="0" u="none" strike="noStrike" cap="none">
                <a:latin typeface="Inclusive Sans"/>
                <a:ea typeface="Inclusive Sans"/>
                <a:cs typeface="Inclusive Sans"/>
                <a:sym typeface="Inclusive Sans"/>
              </a:defRPr>
            </a:lvl6pPr>
            <a:lvl7pPr marL="3200400" marR="0" lvl="6" indent="-342900" algn="l">
              <a:spcBef>
                <a:spcPts val="400"/>
              </a:spcBef>
              <a:spcAft>
                <a:spcPts val="0"/>
              </a:spcAft>
              <a:buSzPts val="1800"/>
              <a:buFont typeface="Inclusive Sans"/>
              <a:buChar char="•"/>
              <a:defRPr sz="1800" i="0" u="none" strike="noStrike" cap="none">
                <a:latin typeface="Inclusive Sans"/>
                <a:ea typeface="Inclusive Sans"/>
                <a:cs typeface="Inclusive Sans"/>
                <a:sym typeface="Inclusive Sans"/>
              </a:defRPr>
            </a:lvl7pPr>
            <a:lvl8pPr marL="3657600" marR="0" lvl="7" indent="-342900" algn="l">
              <a:spcBef>
                <a:spcPts val="400"/>
              </a:spcBef>
              <a:spcAft>
                <a:spcPts val="0"/>
              </a:spcAft>
              <a:buSzPts val="1800"/>
              <a:buFont typeface="Inclusive Sans"/>
              <a:buChar char="•"/>
              <a:defRPr sz="1800" i="0" u="none" strike="noStrike" cap="none">
                <a:latin typeface="Inclusive Sans"/>
                <a:ea typeface="Inclusive Sans"/>
                <a:cs typeface="Inclusive Sans"/>
                <a:sym typeface="Inclusive Sans"/>
              </a:defRPr>
            </a:lvl8pPr>
            <a:lvl9pPr marL="4114800" marR="0" lvl="8" indent="-342900" algn="l">
              <a:spcBef>
                <a:spcPts val="400"/>
              </a:spcBef>
              <a:spcAft>
                <a:spcPts val="0"/>
              </a:spcAft>
              <a:buSzPts val="1800"/>
              <a:buFont typeface="Inclusive Sans"/>
              <a:buChar char="•"/>
              <a:defRPr sz="1800" i="0" u="none" strike="noStrike" cap="none">
                <a:latin typeface="Inclusive Sans"/>
                <a:ea typeface="Inclusive Sans"/>
                <a:cs typeface="Inclusive Sans"/>
                <a:sym typeface="Inclusive Sans"/>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grpSp>
        <p:nvGrpSpPr>
          <p:cNvPr id="24" name="Google Shape;24;p5"/>
          <p:cNvGrpSpPr/>
          <p:nvPr/>
        </p:nvGrpSpPr>
        <p:grpSpPr>
          <a:xfrm>
            <a:off x="-1633480" y="2465538"/>
            <a:ext cx="10036504" cy="5756817"/>
            <a:chOff x="0" y="0"/>
            <a:chExt cx="7981950" cy="4578350"/>
          </a:xfrm>
        </p:grpSpPr>
        <p:sp>
          <p:nvSpPr>
            <p:cNvPr id="25" name="Google Shape;25;p5"/>
            <p:cNvSpPr/>
            <p:nvPr/>
          </p:nvSpPr>
          <p:spPr>
            <a:xfrm>
              <a:off x="765810" y="21590"/>
              <a:ext cx="6451600" cy="4326890"/>
            </a:xfrm>
            <a:custGeom>
              <a:avLst/>
              <a:gdLst/>
              <a:ahLst/>
              <a:cxnLst/>
              <a:rect l="l" t="t" r="r" b="b"/>
              <a:pathLst>
                <a:path w="6451600" h="4326890" extrusionOk="0">
                  <a:moveTo>
                    <a:pt x="6224270" y="0"/>
                  </a:moveTo>
                  <a:lnTo>
                    <a:pt x="226060" y="0"/>
                  </a:lnTo>
                  <a:cubicBezTo>
                    <a:pt x="101600" y="0"/>
                    <a:pt x="0" y="101600"/>
                    <a:pt x="0" y="226060"/>
                  </a:cubicBezTo>
                  <a:lnTo>
                    <a:pt x="0" y="4326890"/>
                  </a:lnTo>
                  <a:lnTo>
                    <a:pt x="6451601" y="4326890"/>
                  </a:lnTo>
                  <a:lnTo>
                    <a:pt x="6451601" y="226060"/>
                  </a:lnTo>
                  <a:cubicBezTo>
                    <a:pt x="6450331" y="101600"/>
                    <a:pt x="6348731" y="0"/>
                    <a:pt x="6224270" y="0"/>
                  </a:cubicBezTo>
                  <a:close/>
                  <a:moveTo>
                    <a:pt x="6252210" y="4043680"/>
                  </a:moveTo>
                  <a:lnTo>
                    <a:pt x="196851" y="4043680"/>
                  </a:lnTo>
                  <a:lnTo>
                    <a:pt x="196851" y="255270"/>
                  </a:lnTo>
                  <a:lnTo>
                    <a:pt x="6252210" y="255270"/>
                  </a:lnTo>
                  <a:lnTo>
                    <a:pt x="6252210" y="404368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0"/>
              <a:ext cx="7981950" cy="4542790"/>
            </a:xfrm>
            <a:custGeom>
              <a:avLst/>
              <a:gdLst/>
              <a:ahLst/>
              <a:cxnLst/>
              <a:rect l="l" t="t" r="r" b="b"/>
              <a:pathLst>
                <a:path w="7981950" h="4542790" extrusionOk="0">
                  <a:moveTo>
                    <a:pt x="7239000" y="4348480"/>
                  </a:moveTo>
                  <a:lnTo>
                    <a:pt x="7239000" y="243840"/>
                  </a:lnTo>
                  <a:cubicBezTo>
                    <a:pt x="7239000" y="109220"/>
                    <a:pt x="7129780" y="0"/>
                    <a:pt x="6995160" y="0"/>
                  </a:cubicBezTo>
                  <a:lnTo>
                    <a:pt x="985520" y="0"/>
                  </a:lnTo>
                  <a:cubicBezTo>
                    <a:pt x="852170" y="0"/>
                    <a:pt x="742950" y="109220"/>
                    <a:pt x="742950" y="243840"/>
                  </a:cubicBezTo>
                  <a:lnTo>
                    <a:pt x="742950" y="4349750"/>
                  </a:lnTo>
                  <a:lnTo>
                    <a:pt x="0" y="4349750"/>
                  </a:lnTo>
                  <a:lnTo>
                    <a:pt x="0" y="4447540"/>
                  </a:lnTo>
                  <a:cubicBezTo>
                    <a:pt x="0" y="4500880"/>
                    <a:pt x="43180" y="4542790"/>
                    <a:pt x="95250" y="4542790"/>
                  </a:cubicBezTo>
                  <a:lnTo>
                    <a:pt x="7886700" y="4542790"/>
                  </a:lnTo>
                  <a:cubicBezTo>
                    <a:pt x="7940040" y="4542790"/>
                    <a:pt x="7981950" y="4499610"/>
                    <a:pt x="7981950" y="4447540"/>
                  </a:cubicBezTo>
                  <a:lnTo>
                    <a:pt x="7981950" y="4349750"/>
                  </a:lnTo>
                  <a:lnTo>
                    <a:pt x="7239000" y="4349750"/>
                  </a:lnTo>
                  <a:close/>
                  <a:moveTo>
                    <a:pt x="4519930" y="4348480"/>
                  </a:moveTo>
                  <a:lnTo>
                    <a:pt x="4519930" y="4349750"/>
                  </a:lnTo>
                  <a:cubicBezTo>
                    <a:pt x="4519930" y="4403090"/>
                    <a:pt x="4476750" y="4445000"/>
                    <a:pt x="4424680" y="4445000"/>
                  </a:cubicBezTo>
                  <a:lnTo>
                    <a:pt x="3557270" y="4445000"/>
                  </a:lnTo>
                  <a:cubicBezTo>
                    <a:pt x="3503930" y="4445000"/>
                    <a:pt x="3462020" y="4401820"/>
                    <a:pt x="3462020" y="4349750"/>
                  </a:cubicBezTo>
                  <a:lnTo>
                    <a:pt x="3462020" y="4348480"/>
                  </a:lnTo>
                  <a:lnTo>
                    <a:pt x="765810" y="4348480"/>
                  </a:lnTo>
                  <a:lnTo>
                    <a:pt x="765810" y="247650"/>
                  </a:lnTo>
                  <a:cubicBezTo>
                    <a:pt x="765810" y="123190"/>
                    <a:pt x="867410" y="21590"/>
                    <a:pt x="991870" y="21590"/>
                  </a:cubicBezTo>
                  <a:lnTo>
                    <a:pt x="6990080" y="21590"/>
                  </a:lnTo>
                  <a:cubicBezTo>
                    <a:pt x="7114539" y="21590"/>
                    <a:pt x="7216139" y="123190"/>
                    <a:pt x="7216139" y="247650"/>
                  </a:cubicBezTo>
                  <a:lnTo>
                    <a:pt x="7216139" y="4348480"/>
                  </a:lnTo>
                  <a:lnTo>
                    <a:pt x="4519930" y="4348480"/>
                  </a:lnTo>
                  <a:close/>
                </a:path>
              </a:pathLst>
            </a:custGeom>
            <a:solidFill>
              <a:srgbClr val="E9E9E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p:nvPr/>
          </p:nvSpPr>
          <p:spPr>
            <a:xfrm>
              <a:off x="3460750" y="4349750"/>
              <a:ext cx="1059180" cy="96520"/>
            </a:xfrm>
            <a:custGeom>
              <a:avLst/>
              <a:gdLst/>
              <a:ahLst/>
              <a:cxnLst/>
              <a:rect l="l" t="t" r="r" b="b"/>
              <a:pathLst>
                <a:path w="1059180" h="96520" extrusionOk="0">
                  <a:moveTo>
                    <a:pt x="96520" y="96520"/>
                  </a:moveTo>
                  <a:lnTo>
                    <a:pt x="963930" y="96520"/>
                  </a:lnTo>
                  <a:cubicBezTo>
                    <a:pt x="1017270" y="96520"/>
                    <a:pt x="1059180" y="53340"/>
                    <a:pt x="1059180" y="1270"/>
                  </a:cubicBezTo>
                  <a:lnTo>
                    <a:pt x="1059180" y="0"/>
                  </a:lnTo>
                  <a:lnTo>
                    <a:pt x="0" y="0"/>
                  </a:lnTo>
                  <a:lnTo>
                    <a:pt x="0" y="1270"/>
                  </a:lnTo>
                  <a:cubicBezTo>
                    <a:pt x="0" y="53340"/>
                    <a:pt x="43180" y="96520"/>
                    <a:pt x="96520" y="96520"/>
                  </a:cubicBez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p:nvPr/>
          </p:nvSpPr>
          <p:spPr>
            <a:xfrm>
              <a:off x="163830" y="4542790"/>
              <a:ext cx="7654290" cy="35560"/>
            </a:xfrm>
            <a:custGeom>
              <a:avLst/>
              <a:gdLst/>
              <a:ahLst/>
              <a:cxnLst/>
              <a:rect l="l" t="t" r="r" b="b"/>
              <a:pathLst>
                <a:path w="7654290" h="35560" extrusionOk="0">
                  <a:moveTo>
                    <a:pt x="0" y="0"/>
                  </a:moveTo>
                  <a:cubicBezTo>
                    <a:pt x="0" y="20320"/>
                    <a:pt x="16510" y="35560"/>
                    <a:pt x="35560" y="35560"/>
                  </a:cubicBezTo>
                  <a:lnTo>
                    <a:pt x="7618730" y="35560"/>
                  </a:lnTo>
                  <a:cubicBezTo>
                    <a:pt x="7639050" y="35560"/>
                    <a:pt x="7654290" y="19050"/>
                    <a:pt x="7654290" y="0"/>
                  </a:cubicBezTo>
                  <a:lnTo>
                    <a:pt x="0" y="0"/>
                  </a:lnTo>
                  <a:close/>
                </a:path>
              </a:pathLst>
            </a:cu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 name="Google Shape;29;p5"/>
          <p:cNvGrpSpPr/>
          <p:nvPr/>
        </p:nvGrpSpPr>
        <p:grpSpPr>
          <a:xfrm>
            <a:off x="0" y="-325489"/>
            <a:ext cx="18288118" cy="706493"/>
            <a:chOff x="0" y="-85725"/>
            <a:chExt cx="4816592" cy="186071"/>
          </a:xfrm>
        </p:grpSpPr>
        <p:sp>
          <p:nvSpPr>
            <p:cNvPr id="30" name="Google Shape;30;p5"/>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sp>
        <p:sp>
          <p:nvSpPr>
            <p:cNvPr id="31" name="Google Shape;31;p5"/>
            <p:cNvSpPr txBox="1"/>
            <p:nvPr/>
          </p:nvSpPr>
          <p:spPr>
            <a:xfrm>
              <a:off x="0" y="-85725"/>
              <a:ext cx="4816500" cy="186000"/>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2" name="Google Shape;32;p5"/>
          <p:cNvSpPr txBox="1">
            <a:spLocks noGrp="1"/>
          </p:cNvSpPr>
          <p:nvPr>
            <p:ph type="title"/>
          </p:nvPr>
        </p:nvSpPr>
        <p:spPr>
          <a:xfrm>
            <a:off x="9042750" y="1762292"/>
            <a:ext cx="8229600" cy="2443800"/>
          </a:xfrm>
          <a:prstGeom prst="rect">
            <a:avLst/>
          </a:prstGeom>
          <a:noFill/>
          <a:ln>
            <a:noFill/>
          </a:ln>
        </p:spPr>
        <p:txBody>
          <a:bodyPr spcFirstLastPara="1" wrap="square" lIns="91425" tIns="45700" rIns="91425" bIns="45700" anchor="t" anchorCtr="0">
            <a:normAutofit/>
          </a:bodyPr>
          <a:lstStyle>
            <a:lvl1pPr marR="0" lvl="0">
              <a:spcBef>
                <a:spcPts val="0"/>
              </a:spcBef>
              <a:spcAft>
                <a:spcPts val="0"/>
              </a:spcAft>
              <a:buClr>
                <a:srgbClr val="A477FF"/>
              </a:buClr>
              <a:buSzPts val="7000"/>
              <a:buFont typeface="Merriweather Sans"/>
              <a:buNone/>
              <a:defRPr sz="7000" i="0" u="none" strike="noStrike" cap="none">
                <a:solidFill>
                  <a:srgbClr val="A477FF"/>
                </a:solidFill>
                <a:latin typeface="Merriweather Sans"/>
                <a:ea typeface="Merriweather Sans"/>
                <a:cs typeface="Merriweather Sans"/>
                <a:sym typeface="Merriweather Sans"/>
              </a:defRPr>
            </a:lvl1pPr>
            <a:lvl2pPr lvl="1">
              <a:spcBef>
                <a:spcPts val="0"/>
              </a:spcBef>
              <a:spcAft>
                <a:spcPts val="0"/>
              </a:spcAft>
              <a:buClr>
                <a:srgbClr val="F9F6FF"/>
              </a:buClr>
              <a:buSzPts val="1400"/>
              <a:buNone/>
              <a:defRPr sz="1800">
                <a:solidFill>
                  <a:srgbClr val="F9F6FF"/>
                </a:solidFill>
              </a:defRPr>
            </a:lvl2pPr>
            <a:lvl3pPr lvl="2">
              <a:spcBef>
                <a:spcPts val="0"/>
              </a:spcBef>
              <a:spcAft>
                <a:spcPts val="0"/>
              </a:spcAft>
              <a:buClr>
                <a:srgbClr val="F9F6FF"/>
              </a:buClr>
              <a:buSzPts val="1400"/>
              <a:buNone/>
              <a:defRPr sz="1800">
                <a:solidFill>
                  <a:srgbClr val="F9F6FF"/>
                </a:solidFill>
              </a:defRPr>
            </a:lvl3pPr>
            <a:lvl4pPr lvl="3">
              <a:spcBef>
                <a:spcPts val="0"/>
              </a:spcBef>
              <a:spcAft>
                <a:spcPts val="0"/>
              </a:spcAft>
              <a:buClr>
                <a:srgbClr val="F9F6FF"/>
              </a:buClr>
              <a:buSzPts val="1400"/>
              <a:buNone/>
              <a:defRPr sz="1800">
                <a:solidFill>
                  <a:srgbClr val="F9F6FF"/>
                </a:solidFill>
              </a:defRPr>
            </a:lvl4pPr>
            <a:lvl5pPr lvl="4">
              <a:spcBef>
                <a:spcPts val="0"/>
              </a:spcBef>
              <a:spcAft>
                <a:spcPts val="0"/>
              </a:spcAft>
              <a:buClr>
                <a:srgbClr val="F9F6FF"/>
              </a:buClr>
              <a:buSzPts val="1400"/>
              <a:buNone/>
              <a:defRPr sz="1800">
                <a:solidFill>
                  <a:srgbClr val="F9F6FF"/>
                </a:solidFill>
              </a:defRPr>
            </a:lvl5pPr>
            <a:lvl6pPr lvl="5">
              <a:spcBef>
                <a:spcPts val="0"/>
              </a:spcBef>
              <a:spcAft>
                <a:spcPts val="0"/>
              </a:spcAft>
              <a:buClr>
                <a:srgbClr val="F9F6FF"/>
              </a:buClr>
              <a:buSzPts val="1400"/>
              <a:buNone/>
              <a:defRPr sz="1800">
                <a:solidFill>
                  <a:srgbClr val="F9F6FF"/>
                </a:solidFill>
              </a:defRPr>
            </a:lvl6pPr>
            <a:lvl7pPr lvl="6">
              <a:spcBef>
                <a:spcPts val="0"/>
              </a:spcBef>
              <a:spcAft>
                <a:spcPts val="0"/>
              </a:spcAft>
              <a:buClr>
                <a:srgbClr val="F9F6FF"/>
              </a:buClr>
              <a:buSzPts val="1400"/>
              <a:buNone/>
              <a:defRPr sz="1800">
                <a:solidFill>
                  <a:srgbClr val="F9F6FF"/>
                </a:solidFill>
              </a:defRPr>
            </a:lvl7pPr>
            <a:lvl8pPr lvl="7">
              <a:spcBef>
                <a:spcPts val="0"/>
              </a:spcBef>
              <a:spcAft>
                <a:spcPts val="0"/>
              </a:spcAft>
              <a:buClr>
                <a:srgbClr val="F9F6FF"/>
              </a:buClr>
              <a:buSzPts val="1400"/>
              <a:buNone/>
              <a:defRPr sz="1800">
                <a:solidFill>
                  <a:srgbClr val="F9F6FF"/>
                </a:solidFill>
              </a:defRPr>
            </a:lvl8pPr>
            <a:lvl9pPr lvl="8">
              <a:spcBef>
                <a:spcPts val="0"/>
              </a:spcBef>
              <a:spcAft>
                <a:spcPts val="0"/>
              </a:spcAft>
              <a:buClr>
                <a:srgbClr val="F9F6FF"/>
              </a:buClr>
              <a:buSzPts val="1400"/>
              <a:buNone/>
              <a:defRPr sz="1800">
                <a:solidFill>
                  <a:srgbClr val="F9F6FF"/>
                </a:solidFill>
              </a:defRPr>
            </a:lvl9pPr>
          </a:lstStyle>
          <a:p>
            <a:endParaRPr/>
          </a:p>
        </p:txBody>
      </p:sp>
      <p:sp>
        <p:nvSpPr>
          <p:cNvPr id="33" name="Google Shape;33;p5"/>
          <p:cNvSpPr txBox="1">
            <a:spLocks noGrp="1"/>
          </p:cNvSpPr>
          <p:nvPr>
            <p:ph type="body" idx="1"/>
          </p:nvPr>
        </p:nvSpPr>
        <p:spPr>
          <a:xfrm>
            <a:off x="9042750" y="4597188"/>
            <a:ext cx="8229600" cy="4296000"/>
          </a:xfrm>
          <a:prstGeom prst="rect">
            <a:avLst/>
          </a:prstGeom>
          <a:noFill/>
          <a:ln>
            <a:noFill/>
          </a:ln>
        </p:spPr>
        <p:txBody>
          <a:bodyPr spcFirstLastPara="1" wrap="square" lIns="91425" tIns="45700" rIns="91425" bIns="45700" anchor="t" anchorCtr="0">
            <a:normAutofit/>
          </a:bodyPr>
          <a:lstStyle>
            <a:lvl1pPr marL="457200" marR="0" lvl="0" indent="-342900" algn="l">
              <a:spcBef>
                <a:spcPts val="64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1pPr>
            <a:lvl2pPr marL="914400" marR="0" lvl="1" indent="-342900" algn="l">
              <a:spcBef>
                <a:spcPts val="56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2pPr>
            <a:lvl3pPr marL="1371600" marR="0" lvl="2" indent="-342900" algn="l">
              <a:spcBef>
                <a:spcPts val="48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3pPr>
            <a:lvl4pPr marL="1828800" marR="0" lvl="3"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4pPr>
            <a:lvl5pPr marL="2286000" marR="0" lvl="4"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5pPr>
            <a:lvl6pPr marL="2743200" marR="0" lvl="5"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6pPr>
            <a:lvl7pPr marL="3200400" marR="0" lvl="6"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7pPr>
            <a:lvl8pPr marL="3657600" marR="0" lvl="7"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8pPr>
            <a:lvl9pPr marL="4114800" marR="0" lvl="8"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9pPr>
          </a:lstStyle>
          <a:p>
            <a:endParaRPr/>
          </a:p>
        </p:txBody>
      </p:sp>
      <p:sp>
        <p:nvSpPr>
          <p:cNvPr id="34" name="Google Shape;34;p5"/>
          <p:cNvSpPr>
            <a:spLocks noGrp="1"/>
          </p:cNvSpPr>
          <p:nvPr>
            <p:ph type="pic" idx="2"/>
          </p:nvPr>
        </p:nvSpPr>
        <p:spPr>
          <a:xfrm>
            <a:off x="-443300" y="2796650"/>
            <a:ext cx="7656600" cy="4820700"/>
          </a:xfrm>
          <a:prstGeom prst="rect">
            <a:avLst/>
          </a:prstGeom>
          <a:noFill/>
          <a:ln>
            <a:no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
          <p:cNvSpPr/>
          <p:nvPr/>
        </p:nvSpPr>
        <p:spPr>
          <a:xfrm>
            <a:off x="1234549" y="846026"/>
            <a:ext cx="6517859" cy="8596697"/>
          </a:xfrm>
          <a:custGeom>
            <a:avLst/>
            <a:gdLst/>
            <a:ahLst/>
            <a:cxnLst/>
            <a:rect l="l" t="t" r="r" b="b"/>
            <a:pathLst>
              <a:path w="5152458" h="6795808" extrusionOk="0">
                <a:moveTo>
                  <a:pt x="0" y="0"/>
                </a:moveTo>
                <a:lnTo>
                  <a:pt x="5152458" y="0"/>
                </a:lnTo>
                <a:lnTo>
                  <a:pt x="5152458" y="6795808"/>
                </a:lnTo>
                <a:lnTo>
                  <a:pt x="0" y="6795808"/>
                </a:lnTo>
                <a:lnTo>
                  <a:pt x="0" y="0"/>
                </a:lnTo>
                <a:close/>
              </a:path>
            </a:pathLst>
          </a:custGeom>
          <a:blipFill rotWithShape="1">
            <a:blip r:embed="rId2">
              <a:alphaModFix/>
            </a:blip>
            <a:stretch>
              <a:fillRect/>
            </a:stretch>
          </a:blipFill>
          <a:ln>
            <a:noFill/>
          </a:ln>
        </p:spPr>
      </p:sp>
      <p:sp>
        <p:nvSpPr>
          <p:cNvPr id="37" name="Google Shape;37;p6"/>
          <p:cNvSpPr txBox="1">
            <a:spLocks noGrp="1"/>
          </p:cNvSpPr>
          <p:nvPr>
            <p:ph type="title"/>
          </p:nvPr>
        </p:nvSpPr>
        <p:spPr>
          <a:xfrm>
            <a:off x="9042750" y="1408986"/>
            <a:ext cx="8229600" cy="4549500"/>
          </a:xfrm>
          <a:prstGeom prst="rect">
            <a:avLst/>
          </a:prstGeom>
          <a:noFill/>
          <a:ln>
            <a:noFill/>
          </a:ln>
        </p:spPr>
        <p:txBody>
          <a:bodyPr spcFirstLastPara="1" wrap="square" lIns="91425" tIns="45700" rIns="91425" bIns="45700" anchor="t" anchorCtr="0">
            <a:normAutofit/>
          </a:bodyPr>
          <a:lstStyle>
            <a:lvl1pPr marR="0" lvl="0">
              <a:spcBef>
                <a:spcPts val="0"/>
              </a:spcBef>
              <a:spcAft>
                <a:spcPts val="0"/>
              </a:spcAft>
              <a:buClr>
                <a:srgbClr val="F9F6FF"/>
              </a:buClr>
              <a:buSzPts val="10000"/>
              <a:buFont typeface="Merriweather Sans"/>
              <a:buNone/>
              <a:defRPr sz="10000" i="0" u="none" strike="noStrike" cap="none">
                <a:solidFill>
                  <a:srgbClr val="F9F6FF"/>
                </a:solidFill>
                <a:latin typeface="Merriweather Sans"/>
                <a:ea typeface="Merriweather Sans"/>
                <a:cs typeface="Merriweather Sans"/>
                <a:sym typeface="Merriweather Sans"/>
              </a:defRPr>
            </a:lvl1pPr>
            <a:lvl2pPr lvl="1">
              <a:spcBef>
                <a:spcPts val="0"/>
              </a:spcBef>
              <a:spcAft>
                <a:spcPts val="0"/>
              </a:spcAft>
              <a:buClr>
                <a:srgbClr val="F9F6FF"/>
              </a:buClr>
              <a:buSzPts val="1400"/>
              <a:buNone/>
              <a:defRPr sz="1800">
                <a:solidFill>
                  <a:srgbClr val="F9F6FF"/>
                </a:solidFill>
              </a:defRPr>
            </a:lvl2pPr>
            <a:lvl3pPr lvl="2">
              <a:spcBef>
                <a:spcPts val="0"/>
              </a:spcBef>
              <a:spcAft>
                <a:spcPts val="0"/>
              </a:spcAft>
              <a:buClr>
                <a:srgbClr val="F9F6FF"/>
              </a:buClr>
              <a:buSzPts val="1400"/>
              <a:buNone/>
              <a:defRPr sz="1800">
                <a:solidFill>
                  <a:srgbClr val="F9F6FF"/>
                </a:solidFill>
              </a:defRPr>
            </a:lvl3pPr>
            <a:lvl4pPr lvl="3">
              <a:spcBef>
                <a:spcPts val="0"/>
              </a:spcBef>
              <a:spcAft>
                <a:spcPts val="0"/>
              </a:spcAft>
              <a:buClr>
                <a:srgbClr val="F9F6FF"/>
              </a:buClr>
              <a:buSzPts val="1400"/>
              <a:buNone/>
              <a:defRPr sz="1800">
                <a:solidFill>
                  <a:srgbClr val="F9F6FF"/>
                </a:solidFill>
              </a:defRPr>
            </a:lvl4pPr>
            <a:lvl5pPr lvl="4">
              <a:spcBef>
                <a:spcPts val="0"/>
              </a:spcBef>
              <a:spcAft>
                <a:spcPts val="0"/>
              </a:spcAft>
              <a:buClr>
                <a:srgbClr val="F9F6FF"/>
              </a:buClr>
              <a:buSzPts val="1400"/>
              <a:buNone/>
              <a:defRPr sz="1800">
                <a:solidFill>
                  <a:srgbClr val="F9F6FF"/>
                </a:solidFill>
              </a:defRPr>
            </a:lvl5pPr>
            <a:lvl6pPr lvl="5">
              <a:spcBef>
                <a:spcPts val="0"/>
              </a:spcBef>
              <a:spcAft>
                <a:spcPts val="0"/>
              </a:spcAft>
              <a:buClr>
                <a:srgbClr val="F9F6FF"/>
              </a:buClr>
              <a:buSzPts val="1400"/>
              <a:buNone/>
              <a:defRPr sz="1800">
                <a:solidFill>
                  <a:srgbClr val="F9F6FF"/>
                </a:solidFill>
              </a:defRPr>
            </a:lvl6pPr>
            <a:lvl7pPr lvl="6">
              <a:spcBef>
                <a:spcPts val="0"/>
              </a:spcBef>
              <a:spcAft>
                <a:spcPts val="0"/>
              </a:spcAft>
              <a:buClr>
                <a:srgbClr val="F9F6FF"/>
              </a:buClr>
              <a:buSzPts val="1400"/>
              <a:buNone/>
              <a:defRPr sz="1800">
                <a:solidFill>
                  <a:srgbClr val="F9F6FF"/>
                </a:solidFill>
              </a:defRPr>
            </a:lvl7pPr>
            <a:lvl8pPr lvl="7">
              <a:spcBef>
                <a:spcPts val="0"/>
              </a:spcBef>
              <a:spcAft>
                <a:spcPts val="0"/>
              </a:spcAft>
              <a:buClr>
                <a:srgbClr val="F9F6FF"/>
              </a:buClr>
              <a:buSzPts val="1400"/>
              <a:buNone/>
              <a:defRPr sz="1800">
                <a:solidFill>
                  <a:srgbClr val="F9F6FF"/>
                </a:solidFill>
              </a:defRPr>
            </a:lvl8pPr>
            <a:lvl9pPr lvl="8">
              <a:spcBef>
                <a:spcPts val="0"/>
              </a:spcBef>
              <a:spcAft>
                <a:spcPts val="0"/>
              </a:spcAft>
              <a:buClr>
                <a:srgbClr val="F9F6FF"/>
              </a:buClr>
              <a:buSzPts val="1400"/>
              <a:buNone/>
              <a:defRPr sz="1800">
                <a:solidFill>
                  <a:srgbClr val="F9F6FF"/>
                </a:solidFill>
              </a:defRPr>
            </a:lvl9pPr>
          </a:lstStyle>
          <a:p>
            <a:endParaRPr/>
          </a:p>
        </p:txBody>
      </p:sp>
      <p:sp>
        <p:nvSpPr>
          <p:cNvPr id="38" name="Google Shape;38;p6"/>
          <p:cNvSpPr txBox="1">
            <a:spLocks noGrp="1"/>
          </p:cNvSpPr>
          <p:nvPr>
            <p:ph type="body" idx="1"/>
          </p:nvPr>
        </p:nvSpPr>
        <p:spPr>
          <a:xfrm>
            <a:off x="9042750" y="6730900"/>
            <a:ext cx="8229600" cy="1809000"/>
          </a:xfrm>
          <a:prstGeom prst="rect">
            <a:avLst/>
          </a:prstGeom>
          <a:noFill/>
          <a:ln>
            <a:noFill/>
          </a:ln>
        </p:spPr>
        <p:txBody>
          <a:bodyPr spcFirstLastPara="1" wrap="square" lIns="91425" tIns="45700" rIns="91425" bIns="45700" anchor="t" anchorCtr="0">
            <a:normAutofit/>
          </a:bodyPr>
          <a:lstStyle>
            <a:lvl1pPr marL="457200" marR="0" lvl="0" indent="-342900" algn="l">
              <a:spcBef>
                <a:spcPts val="64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1pPr>
            <a:lvl2pPr marL="914400" marR="0" lvl="1" indent="-342900" algn="l">
              <a:spcBef>
                <a:spcPts val="56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2pPr>
            <a:lvl3pPr marL="1371600" marR="0" lvl="2" indent="-342900" algn="l">
              <a:spcBef>
                <a:spcPts val="48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3pPr>
            <a:lvl4pPr marL="1828800" marR="0" lvl="3"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4pPr>
            <a:lvl5pPr marL="2286000" marR="0" lvl="4"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5pPr>
            <a:lvl6pPr marL="2743200" marR="0" lvl="5"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6pPr>
            <a:lvl7pPr marL="3200400" marR="0" lvl="6"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7pPr>
            <a:lvl8pPr marL="3657600" marR="0" lvl="7"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8pPr>
            <a:lvl9pPr marL="4114800" marR="0" lvl="8"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pic>
        <p:nvPicPr>
          <p:cNvPr id="40" name="Google Shape;40;p7"/>
          <p:cNvPicPr preferRelativeResize="0"/>
          <p:nvPr/>
        </p:nvPicPr>
        <p:blipFill rotWithShape="1">
          <a:blip r:embed="rId2">
            <a:alphaModFix/>
          </a:blip>
          <a:srcRect t="51837" r="418"/>
          <a:stretch/>
        </p:blipFill>
        <p:spPr>
          <a:xfrm>
            <a:off x="6778251" y="0"/>
            <a:ext cx="11509749" cy="3474624"/>
          </a:xfrm>
          <a:prstGeom prst="rect">
            <a:avLst/>
          </a:prstGeom>
          <a:noFill/>
          <a:ln>
            <a:noFill/>
          </a:ln>
        </p:spPr>
      </p:pic>
      <p:sp>
        <p:nvSpPr>
          <p:cNvPr id="41" name="Google Shape;41;p7"/>
          <p:cNvSpPr txBox="1">
            <a:spLocks noGrp="1"/>
          </p:cNvSpPr>
          <p:nvPr>
            <p:ph type="title"/>
          </p:nvPr>
        </p:nvSpPr>
        <p:spPr>
          <a:xfrm>
            <a:off x="907025" y="4078511"/>
            <a:ext cx="8229600" cy="4549500"/>
          </a:xfrm>
          <a:prstGeom prst="rect">
            <a:avLst/>
          </a:prstGeom>
          <a:noFill/>
          <a:ln>
            <a:noFill/>
          </a:ln>
        </p:spPr>
        <p:txBody>
          <a:bodyPr spcFirstLastPara="1" wrap="square" lIns="91425" tIns="45700" rIns="91425" bIns="45700" anchor="t" anchorCtr="0">
            <a:normAutofit/>
          </a:bodyPr>
          <a:lstStyle>
            <a:lvl1pPr marR="0" lvl="0">
              <a:spcBef>
                <a:spcPts val="0"/>
              </a:spcBef>
              <a:spcAft>
                <a:spcPts val="0"/>
              </a:spcAft>
              <a:buClr>
                <a:srgbClr val="F9F6FF"/>
              </a:buClr>
              <a:buSzPts val="10000"/>
              <a:buFont typeface="Merriweather Sans"/>
              <a:buNone/>
              <a:defRPr sz="10000" i="0" u="none" strike="noStrike" cap="none">
                <a:solidFill>
                  <a:srgbClr val="F9F6FF"/>
                </a:solidFill>
                <a:latin typeface="Merriweather Sans"/>
                <a:ea typeface="Merriweather Sans"/>
                <a:cs typeface="Merriweather Sans"/>
                <a:sym typeface="Merriweather Sans"/>
              </a:defRPr>
            </a:lvl1pPr>
            <a:lvl2pPr lvl="1">
              <a:spcBef>
                <a:spcPts val="0"/>
              </a:spcBef>
              <a:spcAft>
                <a:spcPts val="0"/>
              </a:spcAft>
              <a:buClr>
                <a:srgbClr val="F9F6FF"/>
              </a:buClr>
              <a:buSzPts val="1400"/>
              <a:buNone/>
              <a:defRPr sz="1800">
                <a:solidFill>
                  <a:srgbClr val="F9F6FF"/>
                </a:solidFill>
              </a:defRPr>
            </a:lvl2pPr>
            <a:lvl3pPr lvl="2">
              <a:spcBef>
                <a:spcPts val="0"/>
              </a:spcBef>
              <a:spcAft>
                <a:spcPts val="0"/>
              </a:spcAft>
              <a:buClr>
                <a:srgbClr val="F9F6FF"/>
              </a:buClr>
              <a:buSzPts val="1400"/>
              <a:buNone/>
              <a:defRPr sz="1800">
                <a:solidFill>
                  <a:srgbClr val="F9F6FF"/>
                </a:solidFill>
              </a:defRPr>
            </a:lvl3pPr>
            <a:lvl4pPr lvl="3">
              <a:spcBef>
                <a:spcPts val="0"/>
              </a:spcBef>
              <a:spcAft>
                <a:spcPts val="0"/>
              </a:spcAft>
              <a:buClr>
                <a:srgbClr val="F9F6FF"/>
              </a:buClr>
              <a:buSzPts val="1400"/>
              <a:buNone/>
              <a:defRPr sz="1800">
                <a:solidFill>
                  <a:srgbClr val="F9F6FF"/>
                </a:solidFill>
              </a:defRPr>
            </a:lvl4pPr>
            <a:lvl5pPr lvl="4">
              <a:spcBef>
                <a:spcPts val="0"/>
              </a:spcBef>
              <a:spcAft>
                <a:spcPts val="0"/>
              </a:spcAft>
              <a:buClr>
                <a:srgbClr val="F9F6FF"/>
              </a:buClr>
              <a:buSzPts val="1400"/>
              <a:buNone/>
              <a:defRPr sz="1800">
                <a:solidFill>
                  <a:srgbClr val="F9F6FF"/>
                </a:solidFill>
              </a:defRPr>
            </a:lvl5pPr>
            <a:lvl6pPr lvl="5">
              <a:spcBef>
                <a:spcPts val="0"/>
              </a:spcBef>
              <a:spcAft>
                <a:spcPts val="0"/>
              </a:spcAft>
              <a:buClr>
                <a:srgbClr val="F9F6FF"/>
              </a:buClr>
              <a:buSzPts val="1400"/>
              <a:buNone/>
              <a:defRPr sz="1800">
                <a:solidFill>
                  <a:srgbClr val="F9F6FF"/>
                </a:solidFill>
              </a:defRPr>
            </a:lvl6pPr>
            <a:lvl7pPr lvl="6">
              <a:spcBef>
                <a:spcPts val="0"/>
              </a:spcBef>
              <a:spcAft>
                <a:spcPts val="0"/>
              </a:spcAft>
              <a:buClr>
                <a:srgbClr val="F9F6FF"/>
              </a:buClr>
              <a:buSzPts val="1400"/>
              <a:buNone/>
              <a:defRPr sz="1800">
                <a:solidFill>
                  <a:srgbClr val="F9F6FF"/>
                </a:solidFill>
              </a:defRPr>
            </a:lvl7pPr>
            <a:lvl8pPr lvl="7">
              <a:spcBef>
                <a:spcPts val="0"/>
              </a:spcBef>
              <a:spcAft>
                <a:spcPts val="0"/>
              </a:spcAft>
              <a:buClr>
                <a:srgbClr val="F9F6FF"/>
              </a:buClr>
              <a:buSzPts val="1400"/>
              <a:buNone/>
              <a:defRPr sz="1800">
                <a:solidFill>
                  <a:srgbClr val="F9F6FF"/>
                </a:solidFill>
              </a:defRPr>
            </a:lvl8pPr>
            <a:lvl9pPr lvl="8">
              <a:spcBef>
                <a:spcPts val="0"/>
              </a:spcBef>
              <a:spcAft>
                <a:spcPts val="0"/>
              </a:spcAft>
              <a:buClr>
                <a:srgbClr val="F9F6FF"/>
              </a:buClr>
              <a:buSzPts val="1400"/>
              <a:buNone/>
              <a:defRPr sz="1800">
                <a:solidFill>
                  <a:srgbClr val="F9F6FF"/>
                </a:solidFill>
              </a:defRPr>
            </a:lvl9pPr>
          </a:lstStyle>
          <a:p>
            <a:endParaRPr/>
          </a:p>
        </p:txBody>
      </p:sp>
      <p:sp>
        <p:nvSpPr>
          <p:cNvPr id="42" name="Google Shape;42;p7"/>
          <p:cNvSpPr txBox="1">
            <a:spLocks noGrp="1"/>
          </p:cNvSpPr>
          <p:nvPr>
            <p:ph type="body" idx="1"/>
          </p:nvPr>
        </p:nvSpPr>
        <p:spPr>
          <a:xfrm>
            <a:off x="11046475" y="4239000"/>
            <a:ext cx="6434400" cy="5096100"/>
          </a:xfrm>
          <a:prstGeom prst="rect">
            <a:avLst/>
          </a:prstGeom>
          <a:noFill/>
          <a:ln>
            <a:noFill/>
          </a:ln>
        </p:spPr>
        <p:txBody>
          <a:bodyPr spcFirstLastPara="1" wrap="square" lIns="91425" tIns="45700" rIns="91425" bIns="45700" anchor="t" anchorCtr="0">
            <a:normAutofit/>
          </a:bodyPr>
          <a:lstStyle>
            <a:lvl1pPr marL="457200" marR="0" lvl="0" indent="-342900" algn="l">
              <a:spcBef>
                <a:spcPts val="64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1pPr>
            <a:lvl2pPr marL="914400" marR="0" lvl="1" indent="-342900" algn="l">
              <a:spcBef>
                <a:spcPts val="56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2pPr>
            <a:lvl3pPr marL="1371600" marR="0" lvl="2" indent="-342900" algn="l">
              <a:spcBef>
                <a:spcPts val="48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3pPr>
            <a:lvl4pPr marL="1828800" marR="0" lvl="3"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4pPr>
            <a:lvl5pPr marL="2286000" marR="0" lvl="4"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5pPr>
            <a:lvl6pPr marL="2743200" marR="0" lvl="5"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6pPr>
            <a:lvl7pPr marL="3200400" marR="0" lvl="6"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7pPr>
            <a:lvl8pPr marL="3657600" marR="0" lvl="7"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8pPr>
            <a:lvl9pPr marL="4114800" marR="0" lvl="8" indent="-342900" algn="l">
              <a:spcBef>
                <a:spcPts val="400"/>
              </a:spcBef>
              <a:spcAft>
                <a:spcPts val="0"/>
              </a:spcAft>
              <a:buClr>
                <a:srgbClr val="F9F6FF"/>
              </a:buClr>
              <a:buSzPts val="1800"/>
              <a:buFont typeface="Inclusive Sans"/>
              <a:buChar char="•"/>
              <a:defRPr sz="1800" i="0" u="none" strike="noStrike" cap="none">
                <a:solidFill>
                  <a:srgbClr val="F9F6FF"/>
                </a:solidFill>
                <a:latin typeface="Inclusive Sans"/>
                <a:ea typeface="Inclusive Sans"/>
                <a:cs typeface="Inclusive Sans"/>
                <a:sym typeface="Inclusive Sans"/>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1" name="Google Shape;5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2" name="Google Shape;5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0"/>
          <p:cNvSpPr>
            <a:spLocks noGrp="1"/>
          </p:cNvSpPr>
          <p:nvPr>
            <p:ph type="pic" idx="2"/>
          </p:nvPr>
        </p:nvSpPr>
        <p:spPr>
          <a:xfrm>
            <a:off x="1792288" y="612775"/>
            <a:ext cx="5486400" cy="4114800"/>
          </a:xfrm>
          <a:prstGeom prst="rect">
            <a:avLst/>
          </a:prstGeom>
          <a:noFill/>
          <a:ln>
            <a:noFill/>
          </a:ln>
        </p:spPr>
      </p:sp>
      <p:sp>
        <p:nvSpPr>
          <p:cNvPr id="58" name="Google Shape;5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9" name="Google Shape;5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65" name="Google Shape;6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t" anchorCtr="0">
            <a:normAutofit/>
          </a:bodyPr>
          <a:lstStyle>
            <a:lvl1pPr marR="0" lvl="0" rtl="0">
              <a:spcBef>
                <a:spcPts val="0"/>
              </a:spcBef>
              <a:spcAft>
                <a:spcPts val="0"/>
              </a:spcAft>
              <a:buClr>
                <a:srgbClr val="F9F6FF"/>
              </a:buClr>
              <a:buSzPts val="4400"/>
              <a:buFont typeface="Merriweather Sans"/>
              <a:buNone/>
              <a:defRPr sz="4400" i="0" u="none" strike="noStrike" cap="none">
                <a:solidFill>
                  <a:srgbClr val="F9F6FF"/>
                </a:solidFill>
                <a:latin typeface="Merriweather Sans"/>
                <a:ea typeface="Merriweather Sans"/>
                <a:cs typeface="Merriweather Sans"/>
                <a:sym typeface="Merriweather Sans"/>
              </a:defRPr>
            </a:lvl1pPr>
            <a:lvl2pPr lvl="1">
              <a:spcBef>
                <a:spcPts val="0"/>
              </a:spcBef>
              <a:spcAft>
                <a:spcPts val="0"/>
              </a:spcAft>
              <a:buClr>
                <a:srgbClr val="F9F6FF"/>
              </a:buClr>
              <a:buSzPts val="1400"/>
              <a:buNone/>
              <a:defRPr sz="1800">
                <a:solidFill>
                  <a:srgbClr val="F9F6FF"/>
                </a:solidFill>
              </a:defRPr>
            </a:lvl2pPr>
            <a:lvl3pPr lvl="2">
              <a:spcBef>
                <a:spcPts val="0"/>
              </a:spcBef>
              <a:spcAft>
                <a:spcPts val="0"/>
              </a:spcAft>
              <a:buClr>
                <a:srgbClr val="F9F6FF"/>
              </a:buClr>
              <a:buSzPts val="1400"/>
              <a:buNone/>
              <a:defRPr sz="1800">
                <a:solidFill>
                  <a:srgbClr val="F9F6FF"/>
                </a:solidFill>
              </a:defRPr>
            </a:lvl3pPr>
            <a:lvl4pPr lvl="3">
              <a:spcBef>
                <a:spcPts val="0"/>
              </a:spcBef>
              <a:spcAft>
                <a:spcPts val="0"/>
              </a:spcAft>
              <a:buClr>
                <a:srgbClr val="F9F6FF"/>
              </a:buClr>
              <a:buSzPts val="1400"/>
              <a:buNone/>
              <a:defRPr sz="1800">
                <a:solidFill>
                  <a:srgbClr val="F9F6FF"/>
                </a:solidFill>
              </a:defRPr>
            </a:lvl4pPr>
            <a:lvl5pPr lvl="4">
              <a:spcBef>
                <a:spcPts val="0"/>
              </a:spcBef>
              <a:spcAft>
                <a:spcPts val="0"/>
              </a:spcAft>
              <a:buClr>
                <a:srgbClr val="F9F6FF"/>
              </a:buClr>
              <a:buSzPts val="1400"/>
              <a:buNone/>
              <a:defRPr sz="1800">
                <a:solidFill>
                  <a:srgbClr val="F9F6FF"/>
                </a:solidFill>
              </a:defRPr>
            </a:lvl5pPr>
            <a:lvl6pPr lvl="5">
              <a:spcBef>
                <a:spcPts val="0"/>
              </a:spcBef>
              <a:spcAft>
                <a:spcPts val="0"/>
              </a:spcAft>
              <a:buClr>
                <a:srgbClr val="F9F6FF"/>
              </a:buClr>
              <a:buSzPts val="1400"/>
              <a:buNone/>
              <a:defRPr sz="1800">
                <a:solidFill>
                  <a:srgbClr val="F9F6FF"/>
                </a:solidFill>
              </a:defRPr>
            </a:lvl6pPr>
            <a:lvl7pPr lvl="6">
              <a:spcBef>
                <a:spcPts val="0"/>
              </a:spcBef>
              <a:spcAft>
                <a:spcPts val="0"/>
              </a:spcAft>
              <a:buClr>
                <a:srgbClr val="F9F6FF"/>
              </a:buClr>
              <a:buSzPts val="1400"/>
              <a:buNone/>
              <a:defRPr sz="1800">
                <a:solidFill>
                  <a:srgbClr val="F9F6FF"/>
                </a:solidFill>
              </a:defRPr>
            </a:lvl7pPr>
            <a:lvl8pPr lvl="7">
              <a:spcBef>
                <a:spcPts val="0"/>
              </a:spcBef>
              <a:spcAft>
                <a:spcPts val="0"/>
              </a:spcAft>
              <a:buClr>
                <a:srgbClr val="F9F6FF"/>
              </a:buClr>
              <a:buSzPts val="1400"/>
              <a:buNone/>
              <a:defRPr sz="1800">
                <a:solidFill>
                  <a:srgbClr val="F9F6FF"/>
                </a:solidFill>
              </a:defRPr>
            </a:lvl8pPr>
            <a:lvl9pPr lvl="8">
              <a:spcBef>
                <a:spcPts val="0"/>
              </a:spcBef>
              <a:spcAft>
                <a:spcPts val="0"/>
              </a:spcAft>
              <a:buClr>
                <a:srgbClr val="F9F6FF"/>
              </a:buClr>
              <a:buSzPts val="1400"/>
              <a:buNone/>
              <a:defRPr sz="1800">
                <a:solidFill>
                  <a:srgbClr val="F9F6FF"/>
                </a:solidFill>
              </a:defRPr>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355600" algn="l" rtl="0">
              <a:spcBef>
                <a:spcPts val="64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1pPr>
            <a:lvl2pPr marL="914400" marR="0" lvl="1" indent="-355600" algn="l" rtl="0">
              <a:spcBef>
                <a:spcPts val="56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2pPr>
            <a:lvl3pPr marL="1371600" marR="0" lvl="2" indent="-355600" algn="l" rtl="0">
              <a:spcBef>
                <a:spcPts val="48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3pPr>
            <a:lvl4pPr marL="1828800" marR="0" lvl="3" indent="-355600" algn="l" rtl="0">
              <a:spcBef>
                <a:spcPts val="40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4pPr>
            <a:lvl5pPr marL="2286000" marR="0" lvl="4" indent="-355600" algn="l" rtl="0">
              <a:spcBef>
                <a:spcPts val="40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5pPr>
            <a:lvl6pPr marL="2743200" marR="0" lvl="5" indent="-355600" algn="l" rtl="0">
              <a:spcBef>
                <a:spcPts val="40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6pPr>
            <a:lvl7pPr marL="3200400" marR="0" lvl="6" indent="-355600" algn="l" rtl="0">
              <a:spcBef>
                <a:spcPts val="40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7pPr>
            <a:lvl8pPr marL="3657600" marR="0" lvl="7" indent="-355600" algn="l" rtl="0">
              <a:spcBef>
                <a:spcPts val="40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8pPr>
            <a:lvl9pPr marL="4114800" marR="0" lvl="8" indent="-355600" algn="l" rtl="0">
              <a:spcBef>
                <a:spcPts val="400"/>
              </a:spcBef>
              <a:spcAft>
                <a:spcPts val="0"/>
              </a:spcAft>
              <a:buClr>
                <a:srgbClr val="F9F6FF"/>
              </a:buClr>
              <a:buSzPts val="2000"/>
              <a:buFont typeface="Inclusive Sans"/>
              <a:buChar char="•"/>
              <a:defRPr sz="2000" i="0" u="none" strike="noStrike" cap="none">
                <a:solidFill>
                  <a:srgbClr val="F9F6FF"/>
                </a:solidFill>
                <a:latin typeface="Inclusive Sans"/>
                <a:ea typeface="Inclusive Sans"/>
                <a:cs typeface="Inclusive Sans"/>
                <a:sym typeface="Inclusive Sans"/>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sv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hyperlink" Target="https://www.kaggle.com/competitions/house-prices-advanced-regression-techniques/code" TargetMode="External"/><Relationship Id="rId4" Type="http://schemas.openxmlformats.org/officeDocument/2006/relationships/hyperlink" Target="http://www.geeksforgeeks.org/deep-learning/implementing-neural-networks-using-tensorflow/"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77"/>
        <p:cNvGrpSpPr/>
        <p:nvPr/>
      </p:nvGrpSpPr>
      <p:grpSpPr>
        <a:xfrm>
          <a:off x="0" y="0"/>
          <a:ext cx="0" cy="0"/>
          <a:chOff x="0" y="0"/>
          <a:chExt cx="0" cy="0"/>
        </a:xfrm>
      </p:grpSpPr>
      <p:grpSp>
        <p:nvGrpSpPr>
          <p:cNvPr id="79" name="Google Shape;79;p13"/>
          <p:cNvGrpSpPr/>
          <p:nvPr/>
        </p:nvGrpSpPr>
        <p:grpSpPr>
          <a:xfrm>
            <a:off x="9684899" y="6538427"/>
            <a:ext cx="9990862" cy="657084"/>
            <a:chOff x="1" y="-67790"/>
            <a:chExt cx="2387100" cy="229487"/>
          </a:xfrm>
        </p:grpSpPr>
        <p:sp>
          <p:nvSpPr>
            <p:cNvPr id="80" name="Google Shape;80;p13"/>
            <p:cNvSpPr/>
            <p:nvPr/>
          </p:nvSpPr>
          <p:spPr>
            <a:xfrm>
              <a:off x="11637" y="6890"/>
              <a:ext cx="1723714" cy="147817"/>
            </a:xfrm>
            <a:custGeom>
              <a:avLst/>
              <a:gdLst/>
              <a:ahLst/>
              <a:cxnLst/>
              <a:rect l="l" t="t" r="r" b="b"/>
              <a:pathLst>
                <a:path w="2387010" h="161597" extrusionOk="0">
                  <a:moveTo>
                    <a:pt x="8542" y="0"/>
                  </a:moveTo>
                  <a:lnTo>
                    <a:pt x="2378468" y="0"/>
                  </a:lnTo>
                  <a:cubicBezTo>
                    <a:pt x="2383186" y="0"/>
                    <a:pt x="2387010" y="3824"/>
                    <a:pt x="2387010" y="8542"/>
                  </a:cubicBezTo>
                  <a:lnTo>
                    <a:pt x="2387010" y="153055"/>
                  </a:lnTo>
                  <a:cubicBezTo>
                    <a:pt x="2387010" y="155320"/>
                    <a:pt x="2386110" y="157493"/>
                    <a:pt x="2384508" y="159095"/>
                  </a:cubicBezTo>
                  <a:cubicBezTo>
                    <a:pt x="2382906" y="160697"/>
                    <a:pt x="2380734" y="161597"/>
                    <a:pt x="2378468" y="161597"/>
                  </a:cubicBezTo>
                  <a:lnTo>
                    <a:pt x="8542" y="161597"/>
                  </a:lnTo>
                  <a:cubicBezTo>
                    <a:pt x="6277" y="161597"/>
                    <a:pt x="4104" y="160697"/>
                    <a:pt x="2502" y="159095"/>
                  </a:cubicBezTo>
                  <a:cubicBezTo>
                    <a:pt x="900" y="157493"/>
                    <a:pt x="0" y="155320"/>
                    <a:pt x="0" y="153055"/>
                  </a:cubicBezTo>
                  <a:lnTo>
                    <a:pt x="0" y="8542"/>
                  </a:lnTo>
                  <a:cubicBezTo>
                    <a:pt x="0" y="6277"/>
                    <a:pt x="900" y="4104"/>
                    <a:pt x="2502" y="2502"/>
                  </a:cubicBezTo>
                  <a:cubicBezTo>
                    <a:pt x="4104" y="900"/>
                    <a:pt x="6277" y="0"/>
                    <a:pt x="8542" y="0"/>
                  </a:cubicBezTo>
                  <a:close/>
                </a:path>
              </a:pathLst>
            </a:custGeom>
            <a:gradFill>
              <a:gsLst>
                <a:gs pos="0">
                  <a:srgbClr val="8C52FF"/>
                </a:gs>
                <a:gs pos="100000">
                  <a:srgbClr val="FFFFFF">
                    <a:alpha val="11372"/>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3"/>
            <p:cNvSpPr txBox="1"/>
            <p:nvPr/>
          </p:nvSpPr>
          <p:spPr>
            <a:xfrm>
              <a:off x="1" y="-67790"/>
              <a:ext cx="2387100" cy="229487"/>
            </a:xfrm>
            <a:prstGeom prst="rect">
              <a:avLst/>
            </a:prstGeom>
            <a:noFill/>
            <a:ln>
              <a:noFill/>
            </a:ln>
          </p:spPr>
          <p:txBody>
            <a:bodyPr spcFirstLastPara="1" wrap="square" lIns="50800" tIns="50800" rIns="50800" bIns="50800" anchor="ctr" anchorCtr="0">
              <a:noAutofit/>
            </a:bodyPr>
            <a:lstStyle/>
            <a:p>
              <a:pPr algn="ctr"/>
              <a:endParaRPr lang="en-US" sz="2400">
                <a:solidFill>
                  <a:schemeClr val="bg1"/>
                </a:solidFill>
              </a:endParaRPr>
            </a:p>
          </p:txBody>
        </p:sp>
      </p:grpSp>
      <p:sp>
        <p:nvSpPr>
          <p:cNvPr id="82" name="Google Shape;82;p13"/>
          <p:cNvSpPr txBox="1"/>
          <p:nvPr/>
        </p:nvSpPr>
        <p:spPr>
          <a:xfrm>
            <a:off x="8843820" y="2932529"/>
            <a:ext cx="9063300" cy="3323987"/>
          </a:xfrm>
          <a:prstGeom prst="rect">
            <a:avLst/>
          </a:prstGeom>
          <a:noFill/>
          <a:ln>
            <a:noFill/>
          </a:ln>
        </p:spPr>
        <p:txBody>
          <a:bodyPr spcFirstLastPara="1" wrap="square" lIns="0" tIns="0" rIns="0" bIns="0" anchor="t" anchorCtr="0">
            <a:spAutoFit/>
          </a:bodyPr>
          <a:lstStyle/>
          <a:p>
            <a:r>
              <a:rPr lang="en-US" sz="7200">
                <a:solidFill>
                  <a:srgbClr val="F9F6FF"/>
                </a:solidFill>
                <a:latin typeface="Merriweather Sans Light"/>
                <a:sym typeface="Merriweather Sans Light"/>
              </a:rPr>
              <a:t>House Prediction using ML &amp; Neural Networks</a:t>
            </a:r>
            <a:endParaRPr lang="en-US" sz="7200">
              <a:solidFill>
                <a:srgbClr val="F9F6FF"/>
              </a:solidFill>
              <a:latin typeface="Merriweather Sans Light"/>
            </a:endParaRPr>
          </a:p>
        </p:txBody>
      </p:sp>
      <p:pic>
        <p:nvPicPr>
          <p:cNvPr id="86" name="Google Shape;86;p13"/>
          <p:cNvPicPr preferRelativeResize="0"/>
          <p:nvPr/>
        </p:nvPicPr>
        <p:blipFill rotWithShape="1">
          <a:blip r:embed="rId3">
            <a:alphaModFix/>
          </a:blip>
          <a:srcRect l="7201"/>
          <a:stretch/>
        </p:blipFill>
        <p:spPr>
          <a:xfrm>
            <a:off x="1" y="0"/>
            <a:ext cx="7980601" cy="10287000"/>
          </a:xfrm>
          <a:prstGeom prst="rect">
            <a:avLst/>
          </a:prstGeom>
          <a:noFill/>
          <a:ln>
            <a:noFill/>
          </a:ln>
        </p:spPr>
      </p:pic>
      <p:sp>
        <p:nvSpPr>
          <p:cNvPr id="3" name="TextBox 2">
            <a:extLst>
              <a:ext uri="{FF2B5EF4-FFF2-40B4-BE49-F238E27FC236}">
                <a16:creationId xmlns:a16="http://schemas.microsoft.com/office/drawing/2014/main" id="{F99A3BDD-7589-AA3D-1486-4CEB212A8ECF}"/>
              </a:ext>
            </a:extLst>
          </p:cNvPr>
          <p:cNvSpPr txBox="1"/>
          <p:nvPr/>
        </p:nvSpPr>
        <p:spPr>
          <a:xfrm>
            <a:off x="9692071" y="6726119"/>
            <a:ext cx="7359325" cy="20005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a:solidFill>
                  <a:schemeClr val="bg1"/>
                </a:solidFill>
              </a:rPr>
              <a:t>Aaryan Singh </a:t>
            </a:r>
            <a:endParaRPr lang="en-US" sz="2400">
              <a:solidFill>
                <a:schemeClr val="bg1"/>
              </a:solidFill>
            </a:endParaRPr>
          </a:p>
          <a:p>
            <a:pPr algn="ctr"/>
            <a:r>
              <a:rPr lang="en-US" sz="2400">
                <a:solidFill>
                  <a:schemeClr val="bg1"/>
                </a:solidFill>
              </a:rPr>
              <a:t>Software Development, ECPI University </a:t>
            </a:r>
          </a:p>
          <a:p>
            <a:pPr algn="ctr"/>
            <a:r>
              <a:rPr lang="en-US" sz="2400">
                <a:solidFill>
                  <a:schemeClr val="bg1"/>
                </a:solidFill>
              </a:rPr>
              <a:t>SDC486L: AI/ML and Advanced Data Analytics Lab </a:t>
            </a:r>
          </a:p>
          <a:p>
            <a:pPr algn="ctr"/>
            <a:r>
              <a:rPr lang="en-US" sz="2400">
                <a:solidFill>
                  <a:schemeClr val="bg1"/>
                </a:solidFill>
              </a:rPr>
              <a:t>Dr. Kingsley </a:t>
            </a:r>
            <a:r>
              <a:rPr lang="en-US" sz="2400" err="1">
                <a:solidFill>
                  <a:schemeClr val="bg1"/>
                </a:solidFill>
              </a:rPr>
              <a:t>Iyinbor</a:t>
            </a:r>
            <a:r>
              <a:rPr lang="en-US" sz="2400">
                <a:solidFill>
                  <a:schemeClr val="bg1"/>
                </a:solidFill>
              </a:rPr>
              <a:t> </a:t>
            </a:r>
          </a:p>
          <a:p>
            <a:pPr algn="ctr"/>
            <a:r>
              <a:rPr lang="en-US" sz="2400">
                <a:solidFill>
                  <a:schemeClr val="bg1"/>
                </a:solidFill>
              </a:rPr>
              <a:t>June 13, 2026 </a:t>
            </a:r>
          </a:p>
        </p:txBody>
      </p:sp>
      <p:pic>
        <p:nvPicPr>
          <p:cNvPr id="30" name="Video 29">
            <a:hlinkClick r:id="" action="ppaction://media"/>
            <a:extLst>
              <a:ext uri="{FF2B5EF4-FFF2-40B4-BE49-F238E27FC236}">
                <a16:creationId xmlns:a16="http://schemas.microsoft.com/office/drawing/2014/main" id="{BDF80CF2-5F8E-F733-AA5F-4429F311BD54}"/>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rcRect l="21875" r="21875"/>
          <a:stretch>
            <a:fillRect/>
          </a:stretch>
        </p:blipFill>
        <p:spPr>
          <a:xfrm>
            <a:off x="593199" y="415399"/>
            <a:ext cx="3086100" cy="3086100"/>
          </a:xfrm>
          <a:prstGeom prst="ellipse">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57B8FAA2-3846-54E8-1040-44A9A87570B6}"/>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544A5A06-818E-EE9E-5CA0-27077D96ABAA}"/>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Dataset Overview</a:t>
            </a:r>
            <a:endParaRPr lang="en-US"/>
          </a:p>
        </p:txBody>
      </p:sp>
      <p:grpSp>
        <p:nvGrpSpPr>
          <p:cNvPr id="165" name="Google Shape;165;p17">
            <a:extLst>
              <a:ext uri="{FF2B5EF4-FFF2-40B4-BE49-F238E27FC236}">
                <a16:creationId xmlns:a16="http://schemas.microsoft.com/office/drawing/2014/main" id="{ADC7B7D6-A81A-E83D-26DC-A669DE5B4F8D}"/>
              </a:ext>
            </a:extLst>
          </p:cNvPr>
          <p:cNvGrpSpPr/>
          <p:nvPr/>
        </p:nvGrpSpPr>
        <p:grpSpPr>
          <a:xfrm>
            <a:off x="0" y="-325486"/>
            <a:ext cx="18288000" cy="706486"/>
            <a:chOff x="0" y="-85725"/>
            <a:chExt cx="4816593" cy="186071"/>
          </a:xfrm>
        </p:grpSpPr>
        <p:sp>
          <p:nvSpPr>
            <p:cNvPr id="166" name="Google Shape;166;p17">
              <a:extLst>
                <a:ext uri="{FF2B5EF4-FFF2-40B4-BE49-F238E27FC236}">
                  <a16:creationId xmlns:a16="http://schemas.microsoft.com/office/drawing/2014/main" id="{25C70661-F6EA-09B1-E92B-D4FEBD48E43C}"/>
                </a:ext>
              </a:extLst>
            </p:cNvPr>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a:extLst>
                <a:ext uri="{FF2B5EF4-FFF2-40B4-BE49-F238E27FC236}">
                  <a16:creationId xmlns:a16="http://schemas.microsoft.com/office/drawing/2014/main" id="{3F66760F-7A9A-300E-5EF5-B94162E4DD30}"/>
                </a:ext>
              </a:extLst>
            </p:cNvPr>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4D093DE2-732D-3A94-16ED-DE6F51C7A5C0}"/>
              </a:ext>
            </a:extLst>
          </p:cNvPr>
          <p:cNvSpPr txBox="1"/>
          <p:nvPr/>
        </p:nvSpPr>
        <p:spPr>
          <a:xfrm>
            <a:off x="1435877" y="2871863"/>
            <a:ext cx="15470249" cy="563231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600">
                <a:solidFill>
                  <a:schemeClr val="bg1"/>
                </a:solidFill>
              </a:rPr>
              <a:t>• Ames Housing Dataset containing nearly 3,000 homes</a:t>
            </a:r>
            <a:endParaRPr lang="en-US">
              <a:solidFill>
                <a:schemeClr val="bg1"/>
              </a:solidFill>
            </a:endParaRPr>
          </a:p>
          <a:p>
            <a:pPr>
              <a:lnSpc>
                <a:spcPct val="150000"/>
              </a:lnSpc>
            </a:pPr>
            <a:r>
              <a:rPr lang="en-US" sz="3600">
                <a:solidFill>
                  <a:schemeClr val="bg1"/>
                </a:solidFill>
              </a:rPr>
              <a:t>• Includes 79 property characteristics per home</a:t>
            </a:r>
            <a:endParaRPr lang="en-US">
              <a:solidFill>
                <a:schemeClr val="bg1"/>
              </a:solidFill>
            </a:endParaRPr>
          </a:p>
          <a:p>
            <a:pPr>
              <a:lnSpc>
                <a:spcPct val="150000"/>
              </a:lnSpc>
            </a:pPr>
            <a:r>
              <a:rPr lang="en-US" sz="3600">
                <a:solidFill>
                  <a:schemeClr val="bg1"/>
                </a:solidFill>
              </a:rPr>
              <a:t>• Records physical, location, and quality attributes</a:t>
            </a:r>
            <a:endParaRPr lang="en-US">
              <a:solidFill>
                <a:schemeClr val="bg1"/>
              </a:solidFill>
            </a:endParaRPr>
          </a:p>
          <a:p>
            <a:pPr>
              <a:lnSpc>
                <a:spcPct val="150000"/>
              </a:lnSpc>
            </a:pPr>
            <a:r>
              <a:rPr lang="en-US" sz="3600">
                <a:solidFill>
                  <a:schemeClr val="bg1"/>
                </a:solidFill>
              </a:rPr>
              <a:t>• Contains final sale prices for modeling</a:t>
            </a:r>
            <a:endParaRPr lang="en-US">
              <a:solidFill>
                <a:schemeClr val="bg1"/>
              </a:solidFill>
            </a:endParaRPr>
          </a:p>
          <a:p>
            <a:pPr>
              <a:lnSpc>
                <a:spcPct val="150000"/>
              </a:lnSpc>
            </a:pPr>
            <a:r>
              <a:rPr lang="en-US" sz="3600">
                <a:solidFill>
                  <a:schemeClr val="bg1"/>
                </a:solidFill>
              </a:rPr>
              <a:t>• Mix of numerical and categorical variables</a:t>
            </a:r>
            <a:endParaRPr lang="en-US">
              <a:solidFill>
                <a:schemeClr val="bg1"/>
              </a:solidFill>
            </a:endParaRPr>
          </a:p>
          <a:p>
            <a:pPr>
              <a:lnSpc>
                <a:spcPct val="150000"/>
              </a:lnSpc>
            </a:pPr>
            <a:r>
              <a:rPr lang="en-US" sz="3600">
                <a:solidFill>
                  <a:schemeClr val="bg1"/>
                </a:solidFill>
              </a:rPr>
              <a:t>• Ideal dataset for regression analysis tasks</a:t>
            </a:r>
            <a:endParaRPr lang="en-US">
              <a:solidFill>
                <a:schemeClr val="bg1"/>
              </a:solidFill>
            </a:endParaRPr>
          </a:p>
          <a:p>
            <a:endParaRPr lang="en-US" sz="3600">
              <a:solidFill>
                <a:schemeClr val="bg1"/>
              </a:solidFill>
            </a:endParaRPr>
          </a:p>
        </p:txBody>
      </p:sp>
      <p:cxnSp>
        <p:nvCxnSpPr>
          <p:cNvPr id="5" name="Straight Arrow Connector 4">
            <a:extLst>
              <a:ext uri="{FF2B5EF4-FFF2-40B4-BE49-F238E27FC236}">
                <a16:creationId xmlns:a16="http://schemas.microsoft.com/office/drawing/2014/main" id="{5352C6CB-6C78-ED1D-1309-A9345122BEF3}"/>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4" name="Video 3">
            <a:hlinkClick r:id="" action="ppaction://media"/>
            <a:extLst>
              <a:ext uri="{FF2B5EF4-FFF2-40B4-BE49-F238E27FC236}">
                <a16:creationId xmlns:a16="http://schemas.microsoft.com/office/drawing/2014/main" id="{47E51C3D-D5D6-A1D2-A47D-5F72639EA1F0}"/>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rcRect l="21875" r="21875"/>
          <a:stretch>
            <a:fillRect/>
          </a:stretch>
        </p:blipFill>
        <p:spPr>
          <a:xfrm>
            <a:off x="15078456" y="7077456"/>
            <a:ext cx="3086100" cy="3086100"/>
          </a:xfrm>
          <a:prstGeom prst="ellipse">
            <a:avLst/>
          </a:prstGeom>
        </p:spPr>
      </p:pic>
    </p:spTree>
    <p:extLst>
      <p:ext uri="{BB962C8B-B14F-4D97-AF65-F5344CB8AC3E}">
        <p14:creationId xmlns:p14="http://schemas.microsoft.com/office/powerpoint/2010/main" val="2212118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p:cNvGrpSpPr/>
        <p:nvPr/>
      </p:nvGrpSpPr>
      <p:grpSpPr>
        <a:xfrm>
          <a:off x="0" y="0"/>
          <a:ext cx="0" cy="0"/>
          <a:chOff x="0" y="0"/>
          <a:chExt cx="0" cy="0"/>
        </a:xfrm>
      </p:grpSpPr>
      <p:sp>
        <p:nvSpPr>
          <p:cNvPr id="157" name="Google Shape;157;p17"/>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Problem Statement</a:t>
            </a:r>
            <a:endParaRPr lang="en-US"/>
          </a:p>
        </p:txBody>
      </p:sp>
      <p:grpSp>
        <p:nvGrpSpPr>
          <p:cNvPr id="165" name="Google Shape;165;p17"/>
          <p:cNvGrpSpPr/>
          <p:nvPr/>
        </p:nvGrpSpPr>
        <p:grpSpPr>
          <a:xfrm>
            <a:off x="0" y="-325486"/>
            <a:ext cx="18288000" cy="706486"/>
            <a:chOff x="0" y="-85725"/>
            <a:chExt cx="4816593" cy="186071"/>
          </a:xfrm>
        </p:grpSpPr>
        <p:sp>
          <p:nvSpPr>
            <p:cNvPr id="166" name="Google Shape;166;p17"/>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59747578-379B-697E-1B38-1194970F79E0}"/>
              </a:ext>
            </a:extLst>
          </p:cNvPr>
          <p:cNvSpPr txBox="1"/>
          <p:nvPr/>
        </p:nvSpPr>
        <p:spPr>
          <a:xfrm>
            <a:off x="1435877" y="2871863"/>
            <a:ext cx="15470249" cy="4975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600">
                <a:solidFill>
                  <a:schemeClr val="bg1"/>
                </a:solidFill>
              </a:rPr>
              <a:t>• Home valuation often relies on human judgment</a:t>
            </a:r>
            <a:endParaRPr lang="en-US"/>
          </a:p>
          <a:p>
            <a:pPr>
              <a:lnSpc>
                <a:spcPct val="150000"/>
              </a:lnSpc>
            </a:pPr>
            <a:r>
              <a:rPr lang="en-US" sz="3600">
                <a:solidFill>
                  <a:schemeClr val="bg1"/>
                </a:solidFill>
              </a:rPr>
              <a:t>• Traditional approaches may miss broader patterns</a:t>
            </a:r>
            <a:endParaRPr lang="en-US">
              <a:solidFill>
                <a:schemeClr val="bg1"/>
              </a:solidFill>
            </a:endParaRPr>
          </a:p>
          <a:p>
            <a:pPr>
              <a:lnSpc>
                <a:spcPct val="150000"/>
              </a:lnSpc>
            </a:pPr>
            <a:r>
              <a:rPr lang="en-US" sz="3600">
                <a:solidFill>
                  <a:schemeClr val="bg1"/>
                </a:solidFill>
              </a:rPr>
              <a:t>• Many factors interact to influence prices</a:t>
            </a:r>
            <a:endParaRPr lang="en-US"/>
          </a:p>
          <a:p>
            <a:pPr>
              <a:lnSpc>
                <a:spcPct val="150000"/>
              </a:lnSpc>
            </a:pPr>
            <a:r>
              <a:rPr lang="en-US" sz="3600">
                <a:solidFill>
                  <a:schemeClr val="bg1"/>
                </a:solidFill>
              </a:rPr>
              <a:t>• Mispricing creates financial risks for stakeholders</a:t>
            </a:r>
            <a:endParaRPr lang="en-US"/>
          </a:p>
          <a:p>
            <a:pPr>
              <a:lnSpc>
                <a:spcPct val="150000"/>
              </a:lnSpc>
            </a:pPr>
            <a:r>
              <a:rPr lang="en-US" sz="3600">
                <a:solidFill>
                  <a:schemeClr val="bg1"/>
                </a:solidFill>
              </a:rPr>
              <a:t>• Objective: improve valuation accuracy using data</a:t>
            </a:r>
            <a:endParaRPr lang="en-US">
              <a:solidFill>
                <a:schemeClr val="bg1"/>
              </a:solidFill>
            </a:endParaRPr>
          </a:p>
          <a:p>
            <a:pPr>
              <a:lnSpc>
                <a:spcPct val="150000"/>
              </a:lnSpc>
            </a:pPr>
            <a:r>
              <a:rPr lang="en-US" sz="3600">
                <a:solidFill>
                  <a:schemeClr val="bg1"/>
                </a:solidFill>
              </a:rPr>
              <a:t>• Identify strongest drivers of housing prices</a:t>
            </a:r>
            <a:endParaRPr lang="en-US">
              <a:solidFill>
                <a:schemeClr val="bg1"/>
              </a:solidFill>
            </a:endParaRPr>
          </a:p>
        </p:txBody>
      </p:sp>
      <p:cxnSp>
        <p:nvCxnSpPr>
          <p:cNvPr id="4" name="Straight Arrow Connector 3">
            <a:extLst>
              <a:ext uri="{FF2B5EF4-FFF2-40B4-BE49-F238E27FC236}">
                <a16:creationId xmlns:a16="http://schemas.microsoft.com/office/drawing/2014/main" id="{0585E50A-0AC2-52DB-ED42-91964700F1CA}"/>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6" name="Video 5">
            <a:hlinkClick r:id="" action="ppaction://media"/>
            <a:extLst>
              <a:ext uri="{FF2B5EF4-FFF2-40B4-BE49-F238E27FC236}">
                <a16:creationId xmlns:a16="http://schemas.microsoft.com/office/drawing/2014/main" id="{6ACF59A0-7707-4F77-7E13-E3222C35177D}"/>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885A0465-3EBA-805B-5C6C-A832E7B308B0}"/>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82023D7D-A3DB-3BAD-6AF2-A05B4DAB2A62}"/>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EDA &amp; Data Preprocessing</a:t>
            </a:r>
            <a:endParaRPr lang="en-US"/>
          </a:p>
        </p:txBody>
      </p:sp>
      <p:grpSp>
        <p:nvGrpSpPr>
          <p:cNvPr id="165" name="Google Shape;165;p17">
            <a:extLst>
              <a:ext uri="{FF2B5EF4-FFF2-40B4-BE49-F238E27FC236}">
                <a16:creationId xmlns:a16="http://schemas.microsoft.com/office/drawing/2014/main" id="{B219C714-5563-CC9B-E174-C7A321652997}"/>
              </a:ext>
            </a:extLst>
          </p:cNvPr>
          <p:cNvGrpSpPr/>
          <p:nvPr/>
        </p:nvGrpSpPr>
        <p:grpSpPr>
          <a:xfrm>
            <a:off x="0" y="-325486"/>
            <a:ext cx="18288000" cy="706486"/>
            <a:chOff x="0" y="-85725"/>
            <a:chExt cx="4816593" cy="186071"/>
          </a:xfrm>
        </p:grpSpPr>
        <p:sp>
          <p:nvSpPr>
            <p:cNvPr id="166" name="Google Shape;166;p17">
              <a:extLst>
                <a:ext uri="{FF2B5EF4-FFF2-40B4-BE49-F238E27FC236}">
                  <a16:creationId xmlns:a16="http://schemas.microsoft.com/office/drawing/2014/main" id="{4CE0C54D-2820-B0F8-4C6D-C599AF7B20BC}"/>
                </a:ext>
              </a:extLst>
            </p:cNvPr>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a:extLst>
                <a:ext uri="{FF2B5EF4-FFF2-40B4-BE49-F238E27FC236}">
                  <a16:creationId xmlns:a16="http://schemas.microsoft.com/office/drawing/2014/main" id="{D4C39A00-9437-E443-5047-220B66E8DCE7}"/>
                </a:ext>
              </a:extLst>
            </p:cNvPr>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E34B182F-4DA7-AAB0-203A-61DECBDA8FB4}"/>
              </a:ext>
            </a:extLst>
          </p:cNvPr>
          <p:cNvSpPr txBox="1"/>
          <p:nvPr/>
        </p:nvSpPr>
        <p:spPr>
          <a:xfrm>
            <a:off x="1435877" y="2871863"/>
            <a:ext cx="15470249" cy="4975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600">
                <a:solidFill>
                  <a:schemeClr val="bg1"/>
                </a:solidFill>
              </a:rPr>
              <a:t>• Sale prices showed significant right-skew distribution</a:t>
            </a:r>
            <a:endParaRPr lang="en-US"/>
          </a:p>
          <a:p>
            <a:pPr>
              <a:lnSpc>
                <a:spcPct val="150000"/>
              </a:lnSpc>
            </a:pPr>
            <a:r>
              <a:rPr lang="en-US" sz="3600">
                <a:solidFill>
                  <a:schemeClr val="bg1"/>
                </a:solidFill>
              </a:rPr>
              <a:t>• Luxury homes increased overall average prices</a:t>
            </a:r>
            <a:endParaRPr lang="en-US"/>
          </a:p>
          <a:p>
            <a:pPr>
              <a:lnSpc>
                <a:spcPct val="150000"/>
              </a:lnSpc>
            </a:pPr>
            <a:r>
              <a:rPr lang="en-US" sz="3600">
                <a:solidFill>
                  <a:schemeClr val="bg1"/>
                </a:solidFill>
              </a:rPr>
              <a:t>• Living area strongly correlated with sale price</a:t>
            </a:r>
            <a:endParaRPr lang="en-US"/>
          </a:p>
          <a:p>
            <a:pPr>
              <a:lnSpc>
                <a:spcPct val="150000"/>
              </a:lnSpc>
            </a:pPr>
            <a:r>
              <a:rPr lang="en-US" sz="3600">
                <a:solidFill>
                  <a:schemeClr val="bg1"/>
                </a:solidFill>
              </a:rPr>
              <a:t>• Overall quality emerged as strongest predictor</a:t>
            </a:r>
            <a:endParaRPr lang="en-US">
              <a:solidFill>
                <a:schemeClr val="bg1"/>
              </a:solidFill>
            </a:endParaRPr>
          </a:p>
          <a:p>
            <a:pPr>
              <a:lnSpc>
                <a:spcPct val="150000"/>
              </a:lnSpc>
            </a:pPr>
            <a:r>
              <a:rPr lang="en-US" sz="3600">
                <a:solidFill>
                  <a:schemeClr val="bg1"/>
                </a:solidFill>
              </a:rPr>
              <a:t>• Missing values imputed using median statistics</a:t>
            </a:r>
            <a:endParaRPr lang="en-US"/>
          </a:p>
          <a:p>
            <a:pPr>
              <a:lnSpc>
                <a:spcPct val="150000"/>
              </a:lnSpc>
            </a:pPr>
            <a:r>
              <a:rPr lang="en-US" sz="3600">
                <a:solidFill>
                  <a:schemeClr val="bg1"/>
                </a:solidFill>
              </a:rPr>
              <a:t>• Features encoded, engineered, and standardized</a:t>
            </a:r>
            <a:endParaRPr lang="en-US"/>
          </a:p>
        </p:txBody>
      </p:sp>
      <p:cxnSp>
        <p:nvCxnSpPr>
          <p:cNvPr id="5" name="Straight Arrow Connector 4">
            <a:extLst>
              <a:ext uri="{FF2B5EF4-FFF2-40B4-BE49-F238E27FC236}">
                <a16:creationId xmlns:a16="http://schemas.microsoft.com/office/drawing/2014/main" id="{7298753C-0EA8-7504-95C5-99D5401C6D68}"/>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6" name="Video 5">
            <a:hlinkClick r:id="" action="ppaction://media"/>
            <a:extLst>
              <a:ext uri="{FF2B5EF4-FFF2-40B4-BE49-F238E27FC236}">
                <a16:creationId xmlns:a16="http://schemas.microsoft.com/office/drawing/2014/main" id="{0E620C63-FB59-6213-9008-D8D1A42FBE20}"/>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extLst>
      <p:ext uri="{BB962C8B-B14F-4D97-AF65-F5344CB8AC3E}">
        <p14:creationId xmlns:p14="http://schemas.microsoft.com/office/powerpoint/2010/main" val="40120363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E67D0BF0-BFC3-B12F-C612-9195E1E3EF43}"/>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9D3BA92E-2593-0B32-7D86-00C31A6C6D37}"/>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Baseline Model Statistics</a:t>
            </a:r>
            <a:endParaRPr lang="en-US"/>
          </a:p>
        </p:txBody>
      </p:sp>
      <p:grpSp>
        <p:nvGrpSpPr>
          <p:cNvPr id="165" name="Google Shape;165;p17">
            <a:extLst>
              <a:ext uri="{FF2B5EF4-FFF2-40B4-BE49-F238E27FC236}">
                <a16:creationId xmlns:a16="http://schemas.microsoft.com/office/drawing/2014/main" id="{7E36ED54-10B7-80D1-6975-39FFC81FB93C}"/>
              </a:ext>
            </a:extLst>
          </p:cNvPr>
          <p:cNvGrpSpPr/>
          <p:nvPr/>
        </p:nvGrpSpPr>
        <p:grpSpPr>
          <a:xfrm>
            <a:off x="0" y="-325486"/>
            <a:ext cx="18288000" cy="706486"/>
            <a:chOff x="0" y="-85725"/>
            <a:chExt cx="4816593" cy="186071"/>
          </a:xfrm>
        </p:grpSpPr>
        <p:sp>
          <p:nvSpPr>
            <p:cNvPr id="166" name="Google Shape;166;p17">
              <a:extLst>
                <a:ext uri="{FF2B5EF4-FFF2-40B4-BE49-F238E27FC236}">
                  <a16:creationId xmlns:a16="http://schemas.microsoft.com/office/drawing/2014/main" id="{718DD387-6A96-25FA-AD52-8B326623DD3E}"/>
                </a:ext>
              </a:extLst>
            </p:cNvPr>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a:extLst>
                <a:ext uri="{FF2B5EF4-FFF2-40B4-BE49-F238E27FC236}">
                  <a16:creationId xmlns:a16="http://schemas.microsoft.com/office/drawing/2014/main" id="{B41F641F-50D1-D4C3-13D1-B9B7E0F1024C}"/>
                </a:ext>
              </a:extLst>
            </p:cNvPr>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FA6FA418-EABF-3167-B44B-D5A1E6780AA9}"/>
              </a:ext>
            </a:extLst>
          </p:cNvPr>
          <p:cNvSpPr txBox="1"/>
          <p:nvPr/>
        </p:nvSpPr>
        <p:spPr>
          <a:xfrm>
            <a:off x="1435877" y="2871863"/>
            <a:ext cx="15470249" cy="4975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600">
                <a:solidFill>
                  <a:schemeClr val="bg1"/>
                </a:solidFill>
              </a:rPr>
              <a:t>• Established benchmark using Linear Regression model</a:t>
            </a:r>
            <a:endParaRPr lang="en-US"/>
          </a:p>
          <a:p>
            <a:pPr>
              <a:lnSpc>
                <a:spcPct val="150000"/>
              </a:lnSpc>
            </a:pPr>
            <a:r>
              <a:rPr lang="en-US" sz="3600">
                <a:solidFill>
                  <a:schemeClr val="bg1"/>
                </a:solidFill>
              </a:rPr>
              <a:t>• Mean Absolute Error approximately $23,929</a:t>
            </a:r>
            <a:endParaRPr lang="en-US"/>
          </a:p>
          <a:p>
            <a:pPr>
              <a:lnSpc>
                <a:spcPct val="150000"/>
              </a:lnSpc>
            </a:pPr>
            <a:r>
              <a:rPr lang="en-US" sz="3600">
                <a:solidFill>
                  <a:schemeClr val="bg1"/>
                </a:solidFill>
              </a:rPr>
              <a:t>• Mean Squared Error approximately 6.9 billion</a:t>
            </a:r>
            <a:endParaRPr lang="en-US"/>
          </a:p>
          <a:p>
            <a:pPr>
              <a:lnSpc>
                <a:spcPct val="150000"/>
              </a:lnSpc>
            </a:pPr>
            <a:r>
              <a:rPr lang="en-US" sz="3600">
                <a:solidFill>
                  <a:schemeClr val="bg1"/>
                </a:solidFill>
              </a:rPr>
              <a:t>• R-squared score reached only 0.10</a:t>
            </a:r>
            <a:endParaRPr lang="en-US"/>
          </a:p>
          <a:p>
            <a:pPr>
              <a:lnSpc>
                <a:spcPct val="150000"/>
              </a:lnSpc>
            </a:pPr>
            <a:r>
              <a:rPr lang="en-US" sz="3600">
                <a:solidFill>
                  <a:schemeClr val="bg1"/>
                </a:solidFill>
              </a:rPr>
              <a:t>• Model easy to interpret and explain</a:t>
            </a:r>
            <a:endParaRPr lang="en-US"/>
          </a:p>
          <a:p>
            <a:pPr>
              <a:lnSpc>
                <a:spcPct val="150000"/>
              </a:lnSpc>
            </a:pPr>
            <a:r>
              <a:rPr lang="en-US" sz="3600">
                <a:solidFill>
                  <a:schemeClr val="bg1"/>
                </a:solidFill>
              </a:rPr>
              <a:t>• Struggled capturing complex market relationships</a:t>
            </a:r>
            <a:endParaRPr lang="en-US"/>
          </a:p>
        </p:txBody>
      </p:sp>
      <p:cxnSp>
        <p:nvCxnSpPr>
          <p:cNvPr id="5" name="Straight Arrow Connector 4">
            <a:extLst>
              <a:ext uri="{FF2B5EF4-FFF2-40B4-BE49-F238E27FC236}">
                <a16:creationId xmlns:a16="http://schemas.microsoft.com/office/drawing/2014/main" id="{D064E56C-5FFD-A576-A8A6-F8E483E12A86}"/>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6" name="Video 5">
            <a:hlinkClick r:id="" action="ppaction://media"/>
            <a:extLst>
              <a:ext uri="{FF2B5EF4-FFF2-40B4-BE49-F238E27FC236}">
                <a16:creationId xmlns:a16="http://schemas.microsoft.com/office/drawing/2014/main" id="{BCCB4516-E9BD-1899-6CAD-76C2586FAFC2}"/>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extLst>
      <p:ext uri="{BB962C8B-B14F-4D97-AF65-F5344CB8AC3E}">
        <p14:creationId xmlns:p14="http://schemas.microsoft.com/office/powerpoint/2010/main" val="3671681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73B42A5C-20D0-B712-642D-1624A5397CEA}"/>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EEF8B403-0020-EDDF-4310-A5C13B5E731E}"/>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Neural Network Implementation</a:t>
            </a:r>
            <a:endParaRPr lang="en-US" sz="6400">
              <a:solidFill>
                <a:srgbClr val="A477FF"/>
              </a:solidFill>
              <a:latin typeface="Merriweather Sans Light"/>
            </a:endParaRPr>
          </a:p>
        </p:txBody>
      </p:sp>
      <p:grpSp>
        <p:nvGrpSpPr>
          <p:cNvPr id="165" name="Google Shape;165;p17">
            <a:extLst>
              <a:ext uri="{FF2B5EF4-FFF2-40B4-BE49-F238E27FC236}">
                <a16:creationId xmlns:a16="http://schemas.microsoft.com/office/drawing/2014/main" id="{31ECF3C2-79D5-069D-03A7-286C49BA7E3A}"/>
              </a:ext>
            </a:extLst>
          </p:cNvPr>
          <p:cNvGrpSpPr/>
          <p:nvPr/>
        </p:nvGrpSpPr>
        <p:grpSpPr>
          <a:xfrm>
            <a:off x="0" y="-325486"/>
            <a:ext cx="18288000" cy="706486"/>
            <a:chOff x="0" y="-85725"/>
            <a:chExt cx="4816593" cy="186071"/>
          </a:xfrm>
        </p:grpSpPr>
        <p:sp>
          <p:nvSpPr>
            <p:cNvPr id="166" name="Google Shape;166;p17">
              <a:extLst>
                <a:ext uri="{FF2B5EF4-FFF2-40B4-BE49-F238E27FC236}">
                  <a16:creationId xmlns:a16="http://schemas.microsoft.com/office/drawing/2014/main" id="{13A74B2F-05A3-3040-8630-12AC354B7BBB}"/>
                </a:ext>
              </a:extLst>
            </p:cNvPr>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a:extLst>
                <a:ext uri="{FF2B5EF4-FFF2-40B4-BE49-F238E27FC236}">
                  <a16:creationId xmlns:a16="http://schemas.microsoft.com/office/drawing/2014/main" id="{21EFF082-F0A0-D6D2-5C76-B69629917687}"/>
                </a:ext>
              </a:extLst>
            </p:cNvPr>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3A40B437-AA8B-FF7D-C3B5-9694E41BFC1D}"/>
              </a:ext>
            </a:extLst>
          </p:cNvPr>
          <p:cNvSpPr txBox="1"/>
          <p:nvPr/>
        </p:nvSpPr>
        <p:spPr>
          <a:xfrm>
            <a:off x="1435877" y="2871863"/>
            <a:ext cx="15470249" cy="5806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600">
                <a:solidFill>
                  <a:schemeClr val="bg1"/>
                </a:solidFill>
              </a:rPr>
              <a:t>• Developed feed-forward neural network architecture</a:t>
            </a:r>
            <a:endParaRPr lang="en-US"/>
          </a:p>
          <a:p>
            <a:pPr>
              <a:lnSpc>
                <a:spcPct val="150000"/>
              </a:lnSpc>
            </a:pPr>
            <a:r>
              <a:rPr lang="en-US" sz="3600">
                <a:solidFill>
                  <a:schemeClr val="bg1"/>
                </a:solidFill>
              </a:rPr>
              <a:t>• Utilized 64 and 32 hidden neurons</a:t>
            </a:r>
            <a:endParaRPr lang="en-US">
              <a:solidFill>
                <a:schemeClr val="bg1"/>
              </a:solidFill>
            </a:endParaRPr>
          </a:p>
          <a:p>
            <a:pPr>
              <a:lnSpc>
                <a:spcPct val="150000"/>
              </a:lnSpc>
            </a:pPr>
            <a:r>
              <a:rPr lang="en-US" sz="3600">
                <a:solidFill>
                  <a:schemeClr val="bg1"/>
                </a:solidFill>
              </a:rPr>
              <a:t>• </a:t>
            </a:r>
            <a:r>
              <a:rPr lang="en-US" sz="3600" err="1">
                <a:solidFill>
                  <a:schemeClr val="bg1"/>
                </a:solidFill>
              </a:rPr>
              <a:t>ReLU</a:t>
            </a:r>
            <a:r>
              <a:rPr lang="en-US" sz="3600">
                <a:solidFill>
                  <a:schemeClr val="bg1"/>
                </a:solidFill>
              </a:rPr>
              <a:t> activation captured non-linear relationships</a:t>
            </a:r>
            <a:endParaRPr lang="en-US">
              <a:solidFill>
                <a:schemeClr val="bg1"/>
              </a:solidFill>
            </a:endParaRPr>
          </a:p>
          <a:p>
            <a:pPr>
              <a:lnSpc>
                <a:spcPct val="150000"/>
              </a:lnSpc>
            </a:pPr>
            <a:r>
              <a:rPr lang="en-US" sz="3600">
                <a:solidFill>
                  <a:schemeClr val="bg1"/>
                </a:solidFill>
              </a:rPr>
              <a:t>• Reduced Mean Squared Error significantly</a:t>
            </a:r>
            <a:endParaRPr lang="en-US"/>
          </a:p>
          <a:p>
            <a:pPr>
              <a:lnSpc>
                <a:spcPct val="150000"/>
              </a:lnSpc>
            </a:pPr>
            <a:r>
              <a:rPr lang="en-US" sz="3600">
                <a:solidFill>
                  <a:schemeClr val="bg1"/>
                </a:solidFill>
              </a:rPr>
              <a:t>• Improved R-squared score from 0.10 to 0.44</a:t>
            </a:r>
            <a:endParaRPr lang="en-US"/>
          </a:p>
          <a:p>
            <a:pPr>
              <a:lnSpc>
                <a:spcPct val="150000"/>
              </a:lnSpc>
            </a:pPr>
            <a:r>
              <a:rPr lang="en-US" sz="3600">
                <a:solidFill>
                  <a:schemeClr val="bg1"/>
                </a:solidFill>
              </a:rPr>
              <a:t>• Better represented overall market behavior</a:t>
            </a:r>
            <a:endParaRPr lang="en-US"/>
          </a:p>
          <a:p>
            <a:pPr>
              <a:lnSpc>
                <a:spcPct val="150000"/>
              </a:lnSpc>
            </a:pPr>
            <a:endParaRPr lang="en-US" sz="3600">
              <a:solidFill>
                <a:schemeClr val="bg1"/>
              </a:solidFill>
            </a:endParaRPr>
          </a:p>
        </p:txBody>
      </p:sp>
      <p:cxnSp>
        <p:nvCxnSpPr>
          <p:cNvPr id="4" name="Straight Arrow Connector 3">
            <a:extLst>
              <a:ext uri="{FF2B5EF4-FFF2-40B4-BE49-F238E27FC236}">
                <a16:creationId xmlns:a16="http://schemas.microsoft.com/office/drawing/2014/main" id="{9F579D13-DCC1-7EE3-DB78-AA5CBF4CAFA9}"/>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6" name="Video 5">
            <a:hlinkClick r:id="" action="ppaction://media"/>
            <a:extLst>
              <a:ext uri="{FF2B5EF4-FFF2-40B4-BE49-F238E27FC236}">
                <a16:creationId xmlns:a16="http://schemas.microsoft.com/office/drawing/2014/main" id="{B0A04D58-2F3E-24C5-D137-C02972E8FC68}"/>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extLst>
      <p:ext uri="{BB962C8B-B14F-4D97-AF65-F5344CB8AC3E}">
        <p14:creationId xmlns:p14="http://schemas.microsoft.com/office/powerpoint/2010/main" val="29541837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EEAC34C3-7342-DDE6-367E-37B0498248AD}"/>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F902CBB6-ECBE-6C8F-9C1D-7F3F06087AEF}"/>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Scenario Analysis &amp; Insights</a:t>
            </a:r>
            <a:endParaRPr lang="en-US" sz="6400">
              <a:solidFill>
                <a:srgbClr val="A477FF"/>
              </a:solidFill>
              <a:latin typeface="Merriweather Sans Light"/>
            </a:endParaRPr>
          </a:p>
        </p:txBody>
      </p:sp>
      <p:grpSp>
        <p:nvGrpSpPr>
          <p:cNvPr id="165" name="Google Shape;165;p17">
            <a:extLst>
              <a:ext uri="{FF2B5EF4-FFF2-40B4-BE49-F238E27FC236}">
                <a16:creationId xmlns:a16="http://schemas.microsoft.com/office/drawing/2014/main" id="{0D16D994-392D-6207-3EE2-0B7DE43C79BF}"/>
              </a:ext>
            </a:extLst>
          </p:cNvPr>
          <p:cNvGrpSpPr/>
          <p:nvPr/>
        </p:nvGrpSpPr>
        <p:grpSpPr>
          <a:xfrm>
            <a:off x="0" y="-325486"/>
            <a:ext cx="18288000" cy="706486"/>
            <a:chOff x="0" y="-85725"/>
            <a:chExt cx="4816593" cy="186071"/>
          </a:xfrm>
        </p:grpSpPr>
        <p:sp>
          <p:nvSpPr>
            <p:cNvPr id="166" name="Google Shape;166;p17">
              <a:extLst>
                <a:ext uri="{FF2B5EF4-FFF2-40B4-BE49-F238E27FC236}">
                  <a16:creationId xmlns:a16="http://schemas.microsoft.com/office/drawing/2014/main" id="{648AE312-23F4-83BC-DF71-E361AC1A9721}"/>
                </a:ext>
              </a:extLst>
            </p:cNvPr>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a:extLst>
                <a:ext uri="{FF2B5EF4-FFF2-40B4-BE49-F238E27FC236}">
                  <a16:creationId xmlns:a16="http://schemas.microsoft.com/office/drawing/2014/main" id="{C1488B05-6DA6-9B37-E345-7A172396557A}"/>
                </a:ext>
              </a:extLst>
            </p:cNvPr>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F7496E7F-3B68-D7B7-8711-9C018B30AF53}"/>
              </a:ext>
            </a:extLst>
          </p:cNvPr>
          <p:cNvSpPr txBox="1"/>
          <p:nvPr/>
        </p:nvSpPr>
        <p:spPr>
          <a:xfrm>
            <a:off x="1054877" y="3224642"/>
            <a:ext cx="9600025" cy="44330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2800">
                <a:solidFill>
                  <a:schemeClr val="bg1"/>
                </a:solidFill>
              </a:rPr>
              <a:t>•</a:t>
            </a:r>
            <a:r>
              <a:rPr lang="en-US" sz="3200">
                <a:solidFill>
                  <a:schemeClr val="bg1"/>
                </a:solidFill>
              </a:rPr>
              <a:t> Simulated multiple hypothetical market conditions</a:t>
            </a:r>
          </a:p>
          <a:p>
            <a:pPr>
              <a:lnSpc>
                <a:spcPct val="150000"/>
              </a:lnSpc>
            </a:pPr>
            <a:r>
              <a:rPr lang="en-US" sz="3200">
                <a:solidFill>
                  <a:schemeClr val="bg1"/>
                </a:solidFill>
              </a:rPr>
              <a:t>• Larger homes produced minimal value increases</a:t>
            </a:r>
          </a:p>
          <a:p>
            <a:pPr>
              <a:lnSpc>
                <a:spcPct val="150000"/>
              </a:lnSpc>
            </a:pPr>
            <a:r>
              <a:rPr lang="en-US" sz="3200">
                <a:solidFill>
                  <a:schemeClr val="bg1"/>
                </a:solidFill>
              </a:rPr>
              <a:t>• Lower quality reduced overall property values</a:t>
            </a:r>
          </a:p>
          <a:p>
            <a:pPr>
              <a:lnSpc>
                <a:spcPct val="150000"/>
              </a:lnSpc>
            </a:pPr>
            <a:r>
              <a:rPr lang="en-US" sz="3200">
                <a:solidFill>
                  <a:schemeClr val="bg1"/>
                </a:solidFill>
              </a:rPr>
              <a:t>• Smaller homes with higher quality gained value</a:t>
            </a:r>
          </a:p>
          <a:p>
            <a:pPr>
              <a:lnSpc>
                <a:spcPct val="150000"/>
              </a:lnSpc>
            </a:pPr>
            <a:r>
              <a:rPr lang="en-US" sz="3200">
                <a:solidFill>
                  <a:schemeClr val="bg1"/>
                </a:solidFill>
              </a:rPr>
              <a:t>• Quality consistently outperformed square footage</a:t>
            </a:r>
          </a:p>
          <a:p>
            <a:pPr>
              <a:lnSpc>
                <a:spcPct val="150000"/>
              </a:lnSpc>
            </a:pPr>
            <a:r>
              <a:rPr lang="en-US" sz="3200">
                <a:solidFill>
                  <a:schemeClr val="bg1"/>
                </a:solidFill>
              </a:rPr>
              <a:t>• Quality proved strongest valuation multiplier</a:t>
            </a:r>
          </a:p>
        </p:txBody>
      </p:sp>
      <p:cxnSp>
        <p:nvCxnSpPr>
          <p:cNvPr id="7" name="Straight Arrow Connector 6">
            <a:extLst>
              <a:ext uri="{FF2B5EF4-FFF2-40B4-BE49-F238E27FC236}">
                <a16:creationId xmlns:a16="http://schemas.microsoft.com/office/drawing/2014/main" id="{09441FF5-4057-787E-D936-70D130EA7B8A}"/>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8" name="Picture 7" descr="A screenshot of a graph&#10;&#10;AI-generated content may be incorrect.">
            <a:extLst>
              <a:ext uri="{FF2B5EF4-FFF2-40B4-BE49-F238E27FC236}">
                <a16:creationId xmlns:a16="http://schemas.microsoft.com/office/drawing/2014/main" id="{D33580CE-F711-AFB6-1E61-052CC70F2C67}"/>
              </a:ext>
            </a:extLst>
          </p:cNvPr>
          <p:cNvPicPr>
            <a:picLocks noChangeAspect="1"/>
          </p:cNvPicPr>
          <p:nvPr/>
        </p:nvPicPr>
        <p:blipFill>
          <a:blip r:embed="rId3"/>
          <a:stretch>
            <a:fillRect/>
          </a:stretch>
        </p:blipFill>
        <p:spPr>
          <a:xfrm>
            <a:off x="11029772" y="4016023"/>
            <a:ext cx="6840010" cy="2847622"/>
          </a:xfrm>
          <a:prstGeom prst="rect">
            <a:avLst/>
          </a:prstGeom>
        </p:spPr>
      </p:pic>
      <p:pic>
        <p:nvPicPr>
          <p:cNvPr id="5" name="Video 4">
            <a:hlinkClick r:id="" action="ppaction://media"/>
            <a:extLst>
              <a:ext uri="{FF2B5EF4-FFF2-40B4-BE49-F238E27FC236}">
                <a16:creationId xmlns:a16="http://schemas.microsoft.com/office/drawing/2014/main" id="{20BBAEAA-D2EC-698D-653A-137B20204BAE}"/>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extLst>
      <p:ext uri="{BB962C8B-B14F-4D97-AF65-F5344CB8AC3E}">
        <p14:creationId xmlns:p14="http://schemas.microsoft.com/office/powerpoint/2010/main" val="2493026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C6D4882D-5053-4671-6278-C4C31DB30745}"/>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DEC7EF73-EC61-1D37-001F-1E715545D03D}"/>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Actionable Recommendations</a:t>
            </a:r>
            <a:endParaRPr lang="en-US"/>
          </a:p>
        </p:txBody>
      </p:sp>
      <p:grpSp>
        <p:nvGrpSpPr>
          <p:cNvPr id="165" name="Google Shape;165;p17">
            <a:extLst>
              <a:ext uri="{FF2B5EF4-FFF2-40B4-BE49-F238E27FC236}">
                <a16:creationId xmlns:a16="http://schemas.microsoft.com/office/drawing/2014/main" id="{3EE00B2B-ACBD-AA2D-573B-74EA32AF4013}"/>
              </a:ext>
            </a:extLst>
          </p:cNvPr>
          <p:cNvGrpSpPr/>
          <p:nvPr/>
        </p:nvGrpSpPr>
        <p:grpSpPr>
          <a:xfrm>
            <a:off x="0" y="-325486"/>
            <a:ext cx="18288000" cy="706486"/>
            <a:chOff x="0" y="-85725"/>
            <a:chExt cx="4816593" cy="186071"/>
          </a:xfrm>
        </p:grpSpPr>
        <p:sp>
          <p:nvSpPr>
            <p:cNvPr id="166" name="Google Shape;166;p17">
              <a:extLst>
                <a:ext uri="{FF2B5EF4-FFF2-40B4-BE49-F238E27FC236}">
                  <a16:creationId xmlns:a16="http://schemas.microsoft.com/office/drawing/2014/main" id="{29BC2AF2-AA24-FC66-1795-D2D1E15B414B}"/>
                </a:ext>
              </a:extLst>
            </p:cNvPr>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a:extLst>
                <a:ext uri="{FF2B5EF4-FFF2-40B4-BE49-F238E27FC236}">
                  <a16:creationId xmlns:a16="http://schemas.microsoft.com/office/drawing/2014/main" id="{823FDCFC-E958-EDEF-1908-B9FCD6BB946C}"/>
                </a:ext>
              </a:extLst>
            </p:cNvPr>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sp>
        <p:nvSpPr>
          <p:cNvPr id="3" name="TextBox 2">
            <a:extLst>
              <a:ext uri="{FF2B5EF4-FFF2-40B4-BE49-F238E27FC236}">
                <a16:creationId xmlns:a16="http://schemas.microsoft.com/office/drawing/2014/main" id="{0D6E4B13-47A4-3CEF-A2D0-FA4FAA25E79D}"/>
              </a:ext>
            </a:extLst>
          </p:cNvPr>
          <p:cNvSpPr txBox="1"/>
          <p:nvPr/>
        </p:nvSpPr>
        <p:spPr>
          <a:xfrm>
            <a:off x="1435877" y="2871863"/>
            <a:ext cx="15470249" cy="49756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3600">
                <a:solidFill>
                  <a:schemeClr val="bg1"/>
                </a:solidFill>
              </a:rPr>
              <a:t>• Prioritize quality improvements over costly expansions</a:t>
            </a:r>
            <a:endParaRPr lang="en-US">
              <a:solidFill>
                <a:schemeClr val="bg1"/>
              </a:solidFill>
            </a:endParaRPr>
          </a:p>
          <a:p>
            <a:pPr>
              <a:lnSpc>
                <a:spcPct val="150000"/>
              </a:lnSpc>
            </a:pPr>
            <a:r>
              <a:rPr lang="en-US" sz="3600">
                <a:solidFill>
                  <a:schemeClr val="bg1"/>
                </a:solidFill>
              </a:rPr>
              <a:t>• Invest in repairs and property upgrades</a:t>
            </a:r>
            <a:endParaRPr lang="en-US"/>
          </a:p>
          <a:p>
            <a:pPr>
              <a:lnSpc>
                <a:spcPct val="150000"/>
              </a:lnSpc>
            </a:pPr>
            <a:r>
              <a:rPr lang="en-US" sz="3600">
                <a:solidFill>
                  <a:schemeClr val="bg1"/>
                </a:solidFill>
              </a:rPr>
              <a:t>• Focus on features increasing Overall Quality</a:t>
            </a:r>
            <a:endParaRPr lang="en-US"/>
          </a:p>
          <a:p>
            <a:pPr>
              <a:lnSpc>
                <a:spcPct val="150000"/>
              </a:lnSpc>
            </a:pPr>
            <a:r>
              <a:rPr lang="en-US" sz="3600">
                <a:solidFill>
                  <a:schemeClr val="bg1"/>
                </a:solidFill>
              </a:rPr>
              <a:t>• Use predictive models during valuation decisions</a:t>
            </a:r>
            <a:endParaRPr lang="en-US"/>
          </a:p>
          <a:p>
            <a:pPr>
              <a:lnSpc>
                <a:spcPct val="150000"/>
              </a:lnSpc>
            </a:pPr>
            <a:r>
              <a:rPr lang="en-US" sz="3600">
                <a:solidFill>
                  <a:schemeClr val="bg1"/>
                </a:solidFill>
              </a:rPr>
              <a:t>• Apply scenario testing before investments</a:t>
            </a:r>
            <a:endParaRPr lang="en-US"/>
          </a:p>
          <a:p>
            <a:pPr>
              <a:lnSpc>
                <a:spcPct val="150000"/>
              </a:lnSpc>
            </a:pPr>
            <a:r>
              <a:rPr lang="en-US" sz="3600">
                <a:solidFill>
                  <a:schemeClr val="bg1"/>
                </a:solidFill>
              </a:rPr>
              <a:t>• Reduce pricing risk through data analysis</a:t>
            </a:r>
            <a:endParaRPr lang="en-US"/>
          </a:p>
        </p:txBody>
      </p:sp>
      <p:cxnSp>
        <p:nvCxnSpPr>
          <p:cNvPr id="7" name="Straight Arrow Connector 6">
            <a:extLst>
              <a:ext uri="{FF2B5EF4-FFF2-40B4-BE49-F238E27FC236}">
                <a16:creationId xmlns:a16="http://schemas.microsoft.com/office/drawing/2014/main" id="{36C39B57-69DF-97B9-AE51-6FC0AD53130F}"/>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5" name="Video 4">
            <a:hlinkClick r:id="" action="ppaction://media"/>
            <a:extLst>
              <a:ext uri="{FF2B5EF4-FFF2-40B4-BE49-F238E27FC236}">
                <a16:creationId xmlns:a16="http://schemas.microsoft.com/office/drawing/2014/main" id="{9694488E-2F7C-9B52-0CE1-A7865F30A602}"/>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3"/>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extLst>
      <p:ext uri="{BB962C8B-B14F-4D97-AF65-F5344CB8AC3E}">
        <p14:creationId xmlns:p14="http://schemas.microsoft.com/office/powerpoint/2010/main" val="31165820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B03E5894-5251-A451-C11A-8C6A2A238EA6}"/>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34C72A7F-A18B-B6F8-4D89-DFF598748291}"/>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algn="ctr">
              <a:lnSpc>
                <a:spcPct val="120000"/>
              </a:lnSpc>
            </a:pPr>
            <a:r>
              <a:rPr lang="en-US" sz="6400">
                <a:solidFill>
                  <a:srgbClr val="A477FF"/>
                </a:solidFill>
                <a:latin typeface="Merriweather Sans Light"/>
                <a:sym typeface="Merriweather Sans Light"/>
              </a:rPr>
              <a:t>Interactive Dashboard</a:t>
            </a:r>
            <a:endParaRPr lang="en-US"/>
          </a:p>
        </p:txBody>
      </p:sp>
      <p:grpSp>
        <p:nvGrpSpPr>
          <p:cNvPr id="165" name="Google Shape;165;p17">
            <a:extLst>
              <a:ext uri="{FF2B5EF4-FFF2-40B4-BE49-F238E27FC236}">
                <a16:creationId xmlns:a16="http://schemas.microsoft.com/office/drawing/2014/main" id="{5FCB9068-F05C-B953-A97F-ECF2C34B5706}"/>
              </a:ext>
            </a:extLst>
          </p:cNvPr>
          <p:cNvGrpSpPr/>
          <p:nvPr/>
        </p:nvGrpSpPr>
        <p:grpSpPr>
          <a:xfrm>
            <a:off x="0" y="-325486"/>
            <a:ext cx="18288000" cy="706486"/>
            <a:chOff x="0" y="-85725"/>
            <a:chExt cx="4816593" cy="186071"/>
          </a:xfrm>
        </p:grpSpPr>
        <p:sp>
          <p:nvSpPr>
            <p:cNvPr id="166" name="Google Shape;166;p17">
              <a:extLst>
                <a:ext uri="{FF2B5EF4-FFF2-40B4-BE49-F238E27FC236}">
                  <a16:creationId xmlns:a16="http://schemas.microsoft.com/office/drawing/2014/main" id="{42281B0D-D449-5126-CA19-86998EFB89FB}"/>
                </a:ext>
              </a:extLst>
            </p:cNvPr>
            <p:cNvSpPr/>
            <p:nvPr/>
          </p:nvSpPr>
          <p:spPr>
            <a:xfrm>
              <a:off x="0" y="0"/>
              <a:ext cx="4816592" cy="100346"/>
            </a:xfrm>
            <a:custGeom>
              <a:avLst/>
              <a:gdLst/>
              <a:ahLst/>
              <a:cxnLst/>
              <a:rect l="l" t="t" r="r" b="b"/>
              <a:pathLst>
                <a:path w="4816592" h="100346" extrusionOk="0">
                  <a:moveTo>
                    <a:pt x="0" y="0"/>
                  </a:moveTo>
                  <a:lnTo>
                    <a:pt x="4816592" y="0"/>
                  </a:lnTo>
                  <a:lnTo>
                    <a:pt x="4816592" y="100346"/>
                  </a:lnTo>
                  <a:lnTo>
                    <a:pt x="0" y="100346"/>
                  </a:lnTo>
                  <a:close/>
                </a:path>
              </a:pathLst>
            </a:custGeom>
            <a:gradFill>
              <a:gsLst>
                <a:gs pos="0">
                  <a:srgbClr val="8C52FF"/>
                </a:gs>
                <a:gs pos="100000">
                  <a:srgbClr val="FFFFFF">
                    <a:alpha val="11372"/>
                  </a:srgbClr>
                </a:gs>
              </a:gsLst>
              <a:lin ang="0" scaled="0"/>
            </a:gradFill>
            <a:ln>
              <a:noFill/>
            </a:ln>
          </p:spPr>
          <p:txBody>
            <a:bodyPr/>
            <a:lstStyle/>
            <a:p>
              <a:endParaRPr lang="en-US"/>
            </a:p>
          </p:txBody>
        </p:sp>
        <p:sp>
          <p:nvSpPr>
            <p:cNvPr id="167" name="Google Shape;167;p17">
              <a:extLst>
                <a:ext uri="{FF2B5EF4-FFF2-40B4-BE49-F238E27FC236}">
                  <a16:creationId xmlns:a16="http://schemas.microsoft.com/office/drawing/2014/main" id="{F2642E47-F1B5-DBFD-629B-FF9B032C084C}"/>
                </a:ext>
              </a:extLst>
            </p:cNvPr>
            <p:cNvSpPr txBox="1"/>
            <p:nvPr/>
          </p:nvSpPr>
          <p:spPr>
            <a:xfrm>
              <a:off x="0" y="-85725"/>
              <a:ext cx="4816593" cy="186071"/>
            </a:xfrm>
            <a:prstGeom prst="rect">
              <a:avLst/>
            </a:prstGeom>
            <a:noFill/>
            <a:ln>
              <a:noFill/>
            </a:ln>
          </p:spPr>
          <p:txBody>
            <a:bodyPr spcFirstLastPara="1" wrap="square" lIns="50800" tIns="50800" rIns="50800" bIns="50800" anchor="ctr" anchorCtr="0">
              <a:noAutofit/>
            </a:bodyPr>
            <a:lstStyle/>
            <a:p>
              <a:pPr marL="0" marR="0" lvl="0" indent="0" algn="ctr" rtl="0">
                <a:lnSpc>
                  <a:spcPct val="200000"/>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cxnSp>
        <p:nvCxnSpPr>
          <p:cNvPr id="7" name="Straight Arrow Connector 6">
            <a:extLst>
              <a:ext uri="{FF2B5EF4-FFF2-40B4-BE49-F238E27FC236}">
                <a16:creationId xmlns:a16="http://schemas.microsoft.com/office/drawing/2014/main" id="{F8F7214B-AC95-A80A-6843-5DB601C37766}"/>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2" name="Picture 1" descr="A screenshot of a graph&#10;&#10;AI-generated content may be incorrect.">
            <a:extLst>
              <a:ext uri="{FF2B5EF4-FFF2-40B4-BE49-F238E27FC236}">
                <a16:creationId xmlns:a16="http://schemas.microsoft.com/office/drawing/2014/main" id="{134CAA8A-6B69-D09E-9E18-A90B31700358}"/>
              </a:ext>
            </a:extLst>
          </p:cNvPr>
          <p:cNvPicPr>
            <a:picLocks noChangeAspect="1"/>
          </p:cNvPicPr>
          <p:nvPr/>
        </p:nvPicPr>
        <p:blipFill>
          <a:blip r:embed="rId3"/>
          <a:stretch>
            <a:fillRect/>
          </a:stretch>
        </p:blipFill>
        <p:spPr>
          <a:xfrm>
            <a:off x="2730500" y="2540758"/>
            <a:ext cx="12784667" cy="7089317"/>
          </a:xfrm>
          <a:prstGeom prst="rect">
            <a:avLst/>
          </a:prstGeom>
        </p:spPr>
      </p:pic>
      <p:pic>
        <p:nvPicPr>
          <p:cNvPr id="6" name="Video 5">
            <a:hlinkClick r:id="" action="ppaction://media"/>
            <a:extLst>
              <a:ext uri="{FF2B5EF4-FFF2-40B4-BE49-F238E27FC236}">
                <a16:creationId xmlns:a16="http://schemas.microsoft.com/office/drawing/2014/main" id="{683DD24C-ABDC-E062-D04C-E831CFC05A24}"/>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4"/>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extLst>
      <p:ext uri="{BB962C8B-B14F-4D97-AF65-F5344CB8AC3E}">
        <p14:creationId xmlns:p14="http://schemas.microsoft.com/office/powerpoint/2010/main" val="3604506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B0D39"/>
        </a:solidFill>
        <a:effectLst/>
      </p:bgPr>
    </p:bg>
    <p:spTree>
      <p:nvGrpSpPr>
        <p:cNvPr id="1" name="Shape 143">
          <a:extLst>
            <a:ext uri="{FF2B5EF4-FFF2-40B4-BE49-F238E27FC236}">
              <a16:creationId xmlns:a16="http://schemas.microsoft.com/office/drawing/2014/main" id="{523E0829-72AA-C6AA-1D63-04D128BE2AA0}"/>
            </a:ext>
          </a:extLst>
        </p:cNvPr>
        <p:cNvGrpSpPr/>
        <p:nvPr/>
      </p:nvGrpSpPr>
      <p:grpSpPr>
        <a:xfrm>
          <a:off x="0" y="0"/>
          <a:ext cx="0" cy="0"/>
          <a:chOff x="0" y="0"/>
          <a:chExt cx="0" cy="0"/>
        </a:xfrm>
      </p:grpSpPr>
      <p:sp>
        <p:nvSpPr>
          <p:cNvPr id="157" name="Google Shape;157;p17">
            <a:extLst>
              <a:ext uri="{FF2B5EF4-FFF2-40B4-BE49-F238E27FC236}">
                <a16:creationId xmlns:a16="http://schemas.microsoft.com/office/drawing/2014/main" id="{58AC31EB-0C56-7FC5-F944-8A8020D5D57A}"/>
              </a:ext>
            </a:extLst>
          </p:cNvPr>
          <p:cNvSpPr txBox="1"/>
          <p:nvPr/>
        </p:nvSpPr>
        <p:spPr>
          <a:xfrm>
            <a:off x="1028700" y="902849"/>
            <a:ext cx="16230600" cy="1181862"/>
          </a:xfrm>
          <a:prstGeom prst="rect">
            <a:avLst/>
          </a:prstGeom>
          <a:noFill/>
          <a:ln>
            <a:noFill/>
          </a:ln>
        </p:spPr>
        <p:txBody>
          <a:bodyPr spcFirstLastPara="1" wrap="square" lIns="0" tIns="0" rIns="0" bIns="0" anchor="t" anchorCtr="0">
            <a:spAutoFit/>
          </a:bodyPr>
          <a:lstStyle/>
          <a:p>
            <a:pPr marL="0" marR="0" lvl="0" indent="0" algn="ctr">
              <a:lnSpc>
                <a:spcPct val="120000"/>
              </a:lnSpc>
              <a:spcBef>
                <a:spcPts val="0"/>
              </a:spcBef>
              <a:spcAft>
                <a:spcPts val="0"/>
              </a:spcAft>
              <a:buNone/>
            </a:pPr>
            <a:r>
              <a:rPr lang="en-US" sz="6400">
                <a:solidFill>
                  <a:srgbClr val="A477FF"/>
                </a:solidFill>
                <a:latin typeface="Merriweather Sans Light"/>
                <a:sym typeface="Merriweather Sans Light"/>
              </a:rPr>
              <a:t>References</a:t>
            </a:r>
            <a:endParaRPr lang="en-US"/>
          </a:p>
        </p:txBody>
      </p:sp>
      <p:pic>
        <p:nvPicPr>
          <p:cNvPr id="3" name="Google Shape;288;p20" descr="A purple and white circle&#10;&#10;AI-generated content may be incorrect.">
            <a:extLst>
              <a:ext uri="{FF2B5EF4-FFF2-40B4-BE49-F238E27FC236}">
                <a16:creationId xmlns:a16="http://schemas.microsoft.com/office/drawing/2014/main" id="{7D3C29B7-257B-5153-E23B-631033816AB1}"/>
              </a:ext>
            </a:extLst>
          </p:cNvPr>
          <p:cNvPicPr preferRelativeResize="0"/>
          <p:nvPr/>
        </p:nvPicPr>
        <p:blipFill rotWithShape="1">
          <a:blip r:embed="rId3">
            <a:alphaModFix/>
          </a:blip>
          <a:srcRect t="51837" r="418"/>
          <a:stretch/>
        </p:blipFill>
        <p:spPr>
          <a:xfrm>
            <a:off x="11268775" y="0"/>
            <a:ext cx="7019224" cy="2119000"/>
          </a:xfrm>
          <a:prstGeom prst="rect">
            <a:avLst/>
          </a:prstGeom>
          <a:noFill/>
          <a:ln>
            <a:noFill/>
          </a:ln>
        </p:spPr>
      </p:pic>
      <p:sp>
        <p:nvSpPr>
          <p:cNvPr id="4" name="TextBox 3">
            <a:extLst>
              <a:ext uri="{FF2B5EF4-FFF2-40B4-BE49-F238E27FC236}">
                <a16:creationId xmlns:a16="http://schemas.microsoft.com/office/drawing/2014/main" id="{0678F2EC-1349-4F29-438B-951A74F24C89}"/>
              </a:ext>
            </a:extLst>
          </p:cNvPr>
          <p:cNvSpPr txBox="1"/>
          <p:nvPr/>
        </p:nvSpPr>
        <p:spPr>
          <a:xfrm>
            <a:off x="1435877" y="2871863"/>
            <a:ext cx="15470249" cy="280076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solidFill>
                  <a:schemeClr val="bg1"/>
                </a:solidFill>
              </a:rPr>
              <a:t>• </a:t>
            </a:r>
            <a:r>
              <a:rPr lang="en-US" sz="2800" err="1">
                <a:solidFill>
                  <a:schemeClr val="bg1"/>
                </a:solidFill>
              </a:rPr>
              <a:t>GeeksforGeeks</a:t>
            </a:r>
            <a:r>
              <a:rPr lang="en-US" sz="2800">
                <a:solidFill>
                  <a:schemeClr val="bg1"/>
                </a:solidFill>
              </a:rPr>
              <a:t>. “Implementing Neural Networks Using TensorFlow.” </a:t>
            </a:r>
            <a:r>
              <a:rPr lang="en-US" sz="2800" err="1">
                <a:solidFill>
                  <a:schemeClr val="bg1"/>
                </a:solidFill>
              </a:rPr>
              <a:t>GeeksforGeeks</a:t>
            </a:r>
            <a:r>
              <a:rPr lang="en-US" sz="2800">
                <a:solidFill>
                  <a:schemeClr val="bg1"/>
                </a:solidFill>
              </a:rPr>
              <a:t>, 4 Feb. 2022, </a:t>
            </a:r>
            <a:r>
              <a:rPr lang="en-US" sz="2800">
                <a:solidFill>
                  <a:schemeClr val="bg1"/>
                </a:solidFill>
                <a:hlinkClick r:id="rId4">
                  <a:extLst>
                    <a:ext uri="{A12FA001-AC4F-418D-AE19-62706E023703}">
                      <ahyp:hlinkClr xmlns:ahyp="http://schemas.microsoft.com/office/drawing/2018/hyperlinkcolor" val="tx"/>
                    </a:ext>
                  </a:extLst>
                </a:hlinkClick>
              </a:rPr>
              <a:t>www.geeksforgeeks.org/deep-learning/implementing-neural-networks-using-tensorflow/</a:t>
            </a:r>
            <a:r>
              <a:rPr lang="en-US" sz="2800">
                <a:solidFill>
                  <a:schemeClr val="bg1"/>
                </a:solidFill>
              </a:rPr>
              <a:t>.</a:t>
            </a:r>
          </a:p>
          <a:p>
            <a:endParaRPr lang="en-US" sz="2800">
              <a:solidFill>
                <a:schemeClr val="bg1"/>
              </a:solidFill>
            </a:endParaRPr>
          </a:p>
          <a:p>
            <a:r>
              <a:rPr lang="en-US" sz="2800">
                <a:solidFill>
                  <a:schemeClr val="bg1"/>
                </a:solidFill>
              </a:rPr>
              <a:t>• House Prices - Advanced Regression Techniques. (2026). @Kaggle. </a:t>
            </a:r>
            <a:r>
              <a:rPr lang="en-US" sz="2800">
                <a:solidFill>
                  <a:schemeClr val="bg1"/>
                </a:solidFill>
                <a:hlinkClick r:id="rId5">
                  <a:extLst>
                    <a:ext uri="{A12FA001-AC4F-418D-AE19-62706E023703}">
                      <ahyp:hlinkClr xmlns:ahyp="http://schemas.microsoft.com/office/drawing/2018/hyperlinkcolor" val="tx"/>
                    </a:ext>
                  </a:extLst>
                </a:hlinkClick>
              </a:rPr>
              <a:t>https://www.kaggle.com/competitions/house-prices-advanced-regression-techniques/code</a:t>
            </a:r>
            <a:endParaRPr lang="en-US" sz="3200">
              <a:solidFill>
                <a:schemeClr val="bg1"/>
              </a:solidFill>
            </a:endParaRPr>
          </a:p>
          <a:p>
            <a:endParaRPr lang="en-US" sz="3600">
              <a:solidFill>
                <a:schemeClr val="bg1"/>
              </a:solidFill>
            </a:endParaRPr>
          </a:p>
        </p:txBody>
      </p:sp>
      <p:cxnSp>
        <p:nvCxnSpPr>
          <p:cNvPr id="8" name="Straight Arrow Connector 7">
            <a:extLst>
              <a:ext uri="{FF2B5EF4-FFF2-40B4-BE49-F238E27FC236}">
                <a16:creationId xmlns:a16="http://schemas.microsoft.com/office/drawing/2014/main" id="{BCED84DF-1F9B-F15C-E5EF-7CAA76F39419}"/>
              </a:ext>
            </a:extLst>
          </p:cNvPr>
          <p:cNvCxnSpPr/>
          <p:nvPr/>
        </p:nvCxnSpPr>
        <p:spPr>
          <a:xfrm flipV="1">
            <a:off x="6898801" y="2077461"/>
            <a:ext cx="4469694" cy="24694"/>
          </a:xfrm>
          <a:prstGeom prst="straightConnector1">
            <a:avLst/>
          </a:prstGeom>
          <a:ln>
            <a:solidFill>
              <a:schemeClr val="accent4">
                <a:lumMod val="40000"/>
                <a:lumOff val="60000"/>
              </a:schemeClr>
            </a:solidFill>
          </a:ln>
        </p:spPr>
        <p:style>
          <a:lnRef idx="1">
            <a:schemeClr val="accent1"/>
          </a:lnRef>
          <a:fillRef idx="0">
            <a:schemeClr val="accent1"/>
          </a:fillRef>
          <a:effectRef idx="0">
            <a:schemeClr val="accent1"/>
          </a:effectRef>
          <a:fontRef idx="minor">
            <a:schemeClr val="tx1"/>
          </a:fontRef>
        </p:style>
      </p:cxnSp>
      <p:pic>
        <p:nvPicPr>
          <p:cNvPr id="6" name="Video 5">
            <a:hlinkClick r:id="" action="ppaction://media"/>
            <a:extLst>
              <a:ext uri="{FF2B5EF4-FFF2-40B4-BE49-F238E27FC236}">
                <a16:creationId xmlns:a16="http://schemas.microsoft.com/office/drawing/2014/main" id="{8B47FCE0-F6D5-929F-AFE8-FE434B59E5CD}"/>
              </a:ext>
            </a:extLst>
          </p:cNvPr>
          <p:cNvPicPr>
            <a:extLst>
              <a:ext uri="{51228E76-BA90-4043-B771-695A4F85340A}">
                <alf:liveFeedProps xmlns:alf="http://schemas.microsoft.com/office/drawing/2021/livefeed"/>
              </a:ext>
            </a:extLst>
          </p:cNvPicPr>
          <p:nvPr/>
        </p:nvPicPr>
        <p:blipFill>
          <a:blip>
            <a:extLst>
              <a:ext uri="{96DAC541-7B7A-43D3-8B79-37D633B846F1}">
                <asvg:svgBlip xmlns:asvg="http://schemas.microsoft.com/office/drawing/2016/SVG/main" r:embed="rId6"/>
              </a:ext>
            </a:extLst>
          </a:blip>
          <a:srcRect l="21875" r="21875"/>
          <a:stretch>
            <a:fillRect/>
          </a:stretch>
        </p:blipFill>
        <p:spPr>
          <a:xfrm>
            <a:off x="15078456" y="7077456"/>
            <a:ext cx="3086100" cy="3086100"/>
          </a:xfrm>
          <a:prstGeom prst="ellipse">
            <a:avLst/>
          </a:prstGeom>
          <a:ln w="19050" cap="rnd">
            <a:solidFill>
              <a:srgbClr val="404040"/>
            </a:solidFill>
          </a:ln>
          <a:effectLst/>
        </p:spPr>
      </p:pic>
    </p:spTree>
    <p:extLst>
      <p:ext uri="{BB962C8B-B14F-4D97-AF65-F5344CB8AC3E}">
        <p14:creationId xmlns:p14="http://schemas.microsoft.com/office/powerpoint/2010/main" val="182062657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10</Slides>
  <Notes>10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Ren</dc:creator>
  <cp:revision>3</cp:revision>
  <dcterms:modified xsi:type="dcterms:W3CDTF">2026-06-14T01:17:44Z</dcterms:modified>
</cp:coreProperties>
</file>